
<file path=[Content_Types].xml><?xml version="1.0" encoding="utf-8"?>
<Types xmlns="http://schemas.openxmlformats.org/package/2006/content-types">
  <Default ContentType="application/x-fontdata" Extension="fntdata"/>
  <Default ContentType="image/gif" Extension="gif"/>
  <Default ContentType="image/jpeg" Extension="jpeg"/>
  <Default ContentType="video/mp4" Extension="mp4"/>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notesMaster+xml" PartName="/ppt/notesMasters/notesMaster1.xml"/>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5.xml"/>
  <Override ContentType="application/vnd.openxmlformats-officedocument.presentationml.notesSlide+xml" PartName="/ppt/notesSlides/notesSlide6.xml"/>
  <Override ContentType="application/vnd.openxmlformats-officedocument.presentationml.notesSlide+xml" PartName="/ppt/notesSlides/notesSlide7.xml"/>
  <Override ContentType="application/vnd.openxmlformats-officedocument.presentationml.notesSlide+xml" PartName="/ppt/notesSlides/notesSlide8.xml"/>
  <Override ContentType="application/vnd.openxmlformats-officedocument.presentationml.notesSlide+xml" PartName="/ppt/notesSlides/notesSlide9.xml"/>
  <Override ContentType="application/vnd.openxmlformats-officedocument.presentationml.notesSlide+xml" PartName="/ppt/notesSlides/notesSlide10.xml"/>
  <Override ContentType="application/vnd.openxmlformats-officedocument.presentationml.notesSlide+xml" PartName="/ppt/notesSlides/notesSlide11.xml"/>
  <Override ContentType="application/vnd.openxmlformats-officedocument.presentationml.notesSlide+xml" PartName="/ppt/notesSlides/notesSlide12.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notesMasterIdLst>
    <p:notesMasterId r:id="rId23"/>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18288000" cy="10287000"/>
  <p:notesSz cx="6858000" cy="9144000"/>
  <p:embeddedFontLst>
    <p:embeddedFont>
      <p:font typeface="Montserrat Medium" charset="1" panose="00000600000000000000"/>
      <p:regular r:id="rId26"/>
    </p:embeddedFont>
    <p:embeddedFont>
      <p:font typeface="Montserrat Bold" charset="1" panose="00000800000000000000"/>
      <p:regular r:id="rId27"/>
    </p:embeddedFont>
    <p:embeddedFont>
      <p:font typeface="Canva Sans" charset="1" panose="020B0503030501040103"/>
      <p:regular r:id="rId28"/>
    </p:embeddedFont>
    <p:embeddedFont>
      <p:font typeface="Montserrat Ultra-Bold" charset="1" panose="00000900000000000000"/>
      <p:regular r:id="rId29"/>
    </p:embeddedFont>
    <p:embeddedFont>
      <p:font typeface="Canva Sans Bold" charset="1" panose="020B0803030501040103"/>
      <p:regular r:id="rId32"/>
    </p:embeddedFont>
    <p:embeddedFont>
      <p:font typeface="Montserrat" charset="1" panose="00000500000000000000"/>
      <p:regular r:id="rId3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notesMasters/notesMaster1.xml" Type="http://schemas.openxmlformats.org/officeDocument/2006/relationships/notesMaster"/><Relationship Id="rId24" Target="theme/theme2.xml" Type="http://schemas.openxmlformats.org/officeDocument/2006/relationships/theme"/><Relationship Id="rId25" Target="notesSlides/notesSlide1.xml" Type="http://schemas.openxmlformats.org/officeDocument/2006/relationships/notesSlide"/><Relationship Id="rId26" Target="fonts/font26.fntdata" Type="http://schemas.openxmlformats.org/officeDocument/2006/relationships/font"/><Relationship Id="rId27" Target="fonts/font27.fntdata" Type="http://schemas.openxmlformats.org/officeDocument/2006/relationships/font"/><Relationship Id="rId28" Target="fonts/font28.fntdata" Type="http://schemas.openxmlformats.org/officeDocument/2006/relationships/font"/><Relationship Id="rId29" Target="fonts/font29.fntdata" Type="http://schemas.openxmlformats.org/officeDocument/2006/relationships/font"/><Relationship Id="rId3" Target="viewProps.xml" Type="http://schemas.openxmlformats.org/officeDocument/2006/relationships/viewProps"/><Relationship Id="rId30" Target="notesSlides/notesSlide2.xml" Type="http://schemas.openxmlformats.org/officeDocument/2006/relationships/notesSlide"/><Relationship Id="rId31" Target="notesSlides/notesSlide3.xml" Type="http://schemas.openxmlformats.org/officeDocument/2006/relationships/notesSlide"/><Relationship Id="rId32" Target="fonts/font32.fntdata" Type="http://schemas.openxmlformats.org/officeDocument/2006/relationships/font"/><Relationship Id="rId33" Target="notesSlides/notesSlide4.xml" Type="http://schemas.openxmlformats.org/officeDocument/2006/relationships/notesSlide"/><Relationship Id="rId34" Target="fonts/font34.fntdata" Type="http://schemas.openxmlformats.org/officeDocument/2006/relationships/font"/><Relationship Id="rId35" Target="notesSlides/notesSlide5.xml" Type="http://schemas.openxmlformats.org/officeDocument/2006/relationships/notesSlide"/><Relationship Id="rId36" Target="notesSlides/notesSlide6.xml" Type="http://schemas.openxmlformats.org/officeDocument/2006/relationships/notesSlide"/><Relationship Id="rId37" Target="notesSlides/notesSlide7.xml" Type="http://schemas.openxmlformats.org/officeDocument/2006/relationships/notesSlide"/><Relationship Id="rId38" Target="notesSlides/notesSlide8.xml" Type="http://schemas.openxmlformats.org/officeDocument/2006/relationships/notesSlide"/><Relationship Id="rId39" Target="notesSlides/notesSlide9.xml" Type="http://schemas.openxmlformats.org/officeDocument/2006/relationships/notesSlide"/><Relationship Id="rId4" Target="theme/theme1.xml" Type="http://schemas.openxmlformats.org/officeDocument/2006/relationships/theme"/><Relationship Id="rId40" Target="notesSlides/notesSlide10.xml" Type="http://schemas.openxmlformats.org/officeDocument/2006/relationships/notesSlide"/><Relationship Id="rId41" Target="notesSlides/notesSlide11.xml" Type="http://schemas.openxmlformats.org/officeDocument/2006/relationships/notesSlide"/><Relationship Id="rId42" Target="notesSlides/notesSlide12.xml" Type="http://schemas.openxmlformats.org/officeDocument/2006/relationships/notesSlid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notesMasters/_rels/notesMaster1.xml.rels><?xml version="1.0" encoding="UTF-8" standalone="yes"?><Relationships xmlns="http://schemas.openxmlformats.org/package/2006/relationships"><Relationship Id="rId1" Target="../theme/theme2.xml" Type="http://schemas.openxmlformats.org/officeDocument/2006/relationships/theme"/></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t>1.7.2013</a:t>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xml" Type="http://schemas.openxmlformats.org/officeDocument/2006/relationships/slide"/></Relationships>
</file>

<file path=ppt/notesSlides/_rels/notesSlide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2.xml" Type="http://schemas.openxmlformats.org/officeDocument/2006/relationships/slide"/></Relationships>
</file>

<file path=ppt/notesSlides/_rels/notesSlide3.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3.xml" Type="http://schemas.openxmlformats.org/officeDocument/2006/relationships/slide"/></Relationships>
</file>

<file path=ppt/notesSlides/_rels/notesSlide4.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4.xml" Type="http://schemas.openxmlformats.org/officeDocument/2006/relationships/slide"/></Relationships>
</file>

<file path=ppt/notesSlides/_rels/notesSlide5.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5.xml" Type="http://schemas.openxmlformats.org/officeDocument/2006/relationships/slide"/></Relationships>
</file>

<file path=ppt/notesSlides/_rels/notesSlide6.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8.xml" Type="http://schemas.openxmlformats.org/officeDocument/2006/relationships/slide"/></Relationships>
</file>

<file path=ppt/notesSlides/_rels/notesSlide7.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9.xml" Type="http://schemas.openxmlformats.org/officeDocument/2006/relationships/slide"/></Relationships>
</file>

<file path=ppt/notesSlides/_rels/notesSlide8.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0.xml" Type="http://schemas.openxmlformats.org/officeDocument/2006/relationships/slide"/></Relationships>
</file>

<file path=ppt/notesSlides/_rels/notesSlide9.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1.xml" Type="http://schemas.openxmlformats.org/officeDocument/2006/relationships/slide"/></Relationships>
</file>

<file path=ppt/notesSlides/_rels/notesSlide10.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2.xml" Type="http://schemas.openxmlformats.org/officeDocument/2006/relationships/slide"/></Relationships>
</file>

<file path=ppt/notesSlides/_rels/notesSlide11.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3.xml" Type="http://schemas.openxmlformats.org/officeDocument/2006/relationships/slide"/></Relationships>
</file>

<file path=ppt/notesSlides/_rels/notesSlide12.xml.rels><?xml version="1.0" encoding="UTF-8" standalone="yes"?><Relationships xmlns="http://schemas.openxmlformats.org/package/2006/relationships"><Relationship Id="rId1" Target="../notesMasters/notesMaster1.xml" Type="http://schemas.openxmlformats.org/officeDocument/2006/relationships/notesMaster"/><Relationship Id="rId2" Target="../slides/slide14.xml" Type="http://schemas.openxmlformats.org/officeDocument/2006/relationships/slide"/></Relationships>
</file>

<file path=ppt/notesSlides/notesSlide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"Good morning, everyone! I’m Jannatul Ferdousi Rajoni, and I’m excited to present our project on the </a:t>
            </a:r>
          </a:p>
          <a:p>
            <a:r>
              <a:rPr lang="en-US"/>
              <a:t>'Detection and Classification of Fake Job Recruitment Postings.' I’m joined by my talented team, Delta, </a:t>
            </a:r>
          </a:p>
          <a:p>
            <a:r>
              <a:rPr lang="en-US"/>
              <a:t>consisting of Varun Biren Majithia, Samarth Subhash Deshpande, and Jannatul Ferdousi Rajoni. We’ve </a:t>
            </a:r>
          </a:p>
          <a:p>
            <a:r>
              <a:rPr lang="en-US"/>
              <a:t>been working under the guidance of Dr. Timothy Oleskiw, and today,we’re thrilled to share our findings </a:t>
            </a:r>
          </a:p>
          <a:p>
            <a:r>
              <a:rPr lang="en-US"/>
              <a:t>with you.  </a:t>
            </a:r>
          </a:p>
          <a:p>
            <a:r>
              <a:rPr lang="en-US"/>
              <a:t>Before diving into the details, let’s take a moment to understand why this project matters. [Pause] Every </a:t>
            </a:r>
          </a:p>
          <a:p>
            <a:r>
              <a:rPr lang="en-US"/>
              <a:t>day, job seekers face the risk of falling victim to online scams—losing money, time, and even personal </a:t>
            </a:r>
          </a:p>
          <a:p>
            <a:r>
              <a:rPr lang="en-US"/>
              <a:t>data. Our goal? To build a tool that helps users distinguish real opportunities from fraudulent ones. </a:t>
            </a:r>
          </a:p>
          <a:p>
            <a:r>
              <a:rPr lang="en-US"/>
              <a:t>Let’s explore how we tackled this challenge."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"The rise of online job scams is alarming. Victims don’t just lose money—they risk identity theft and </a:t>
            </a:r>
          </a:p>
          <a:p>
            <a:r>
              <a:rPr lang="en-US"/>
              <a:t>emotional distress. For example, a fake job posting might ask for ‘training fees’ or sensitive information </a:t>
            </a:r>
          </a:p>
          <a:p>
            <a:r>
              <a:rPr lang="en-US"/>
              <a:t>like Social Security numbers. </a:t>
            </a:r>
          </a:p>
          <a:p>
            <a:r>
              <a:rPr lang="en-US"/>
              <a:t>To combat this, we set two key objectives: </a:t>
            </a:r>
          </a:p>
          <a:p>
            <a:r>
              <a:rPr lang="en-US"/>
              <a:t>Build a Streamlit web app that classifies job postings as fraudulent or legitimate, complete with a </a:t>
            </a:r>
          </a:p>
          <a:p>
            <a:r>
              <a:rPr lang="en-US"/>
              <a:t>probability score. </a:t>
            </a:r>
          </a:p>
          <a:p>
            <a:r>
              <a:rPr lang="en-US"/>
              <a:t>Integrate LIME(Local Interpretable Model-agnostic Explanations.), an explainability tool, to show which </a:t>
            </a:r>
          </a:p>
          <a:p>
            <a:r>
              <a:rPr lang="en-US"/>
              <a:t>features influenced the prediction—like suspicious wording or missing company details. </a:t>
            </a:r>
          </a:p>
          <a:p>
            <a:r>
              <a:rPr lang="en-US"/>
              <a:t>Why LIME? Transparency builds trust. Users deserve to know why a job posting was flagged, not just the </a:t>
            </a:r>
          </a:p>
          <a:p>
            <a:r>
              <a:rPr lang="en-US"/>
              <a:t>result. </a:t>
            </a:r>
          </a:p>
          <a:p>
            <a:r>
              <a:rPr lang="en-US"/>
              <a:t>This leads us to our approach…"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3.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solution is a machine learning pipeline that processes both text and structured data from job </a:t>
            </a:r>
          </a:p>
          <a:p>
            <a:r>
              <a:rPr lang="en-US"/>
              <a:t>postings. Here’s the high-level workflow: </a:t>
            </a:r>
          </a:p>
          <a:p>
            <a:r>
              <a:rPr lang="en-US"/>
              <a:t>First, preprocessing: We cleaned text by removing gibberish, expanding contractions (like converting I’m </a:t>
            </a:r>
          </a:p>
          <a:p>
            <a:r>
              <a:rPr lang="en-US"/>
              <a:t>to I am), and applying lemmatization to reduce words to their root forms. </a:t>
            </a:r>
          </a:p>
          <a:p>
            <a:r>
              <a:rPr lang="en-US"/>
              <a:t>Next, model training: We tested multiple algorithms—Logistic Regression, Random Forest, even </a:t>
            </a:r>
          </a:p>
          <a:p>
            <a:r>
              <a:rPr lang="en-US"/>
              <a:t>BERT—to find the best performer. </a:t>
            </a:r>
          </a:p>
          <a:p>
            <a:r>
              <a:rPr lang="en-US"/>
              <a:t>Finally, deployment: We packaged this into a user-friendly Streamlit app. </a:t>
            </a:r>
          </a:p>
          <a:p>
            <a:r>
              <a:rPr lang="en-US"/>
              <a:t>But the heart of any ML project? Data quality. Let’s look at how we prepared our dataset…"</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4.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"We sourced our dataset from Kaggle, which included job titles, company profiles, and descriptions. The </a:t>
            </a:r>
          </a:p>
          <a:p>
            <a:r>
              <a:rPr lang="en-US"/>
              <a:t>Raw data is very messy. </a:t>
            </a:r>
          </a:p>
          <a:p>
            <a:r>
              <a:rPr lang="en-US"/>
              <a:t>"Now, let’s dive into how we transformed messy job postings into clean, model-ready text. Think of this </a:t>
            </a:r>
          </a:p>
          <a:p>
            <a:r>
              <a:rPr lang="en-US"/>
              <a:t>like washing and chopping ingredients before cooking—essential for a great dish! </a:t>
            </a:r>
          </a:p>
          <a:p>
            <a:r>
              <a:rPr lang="en-US"/>
              <a:t>Lowercasing: </a:t>
            </a:r>
          </a:p>
          <a:p>
            <a:r>
              <a:rPr lang="en-US"/>
              <a:t>First, we standardized everything to lowercase. Why? Because ‘Data Scientist’ and ‘data scientist’ are the </a:t>
            </a:r>
          </a:p>
          <a:p>
            <a:r>
              <a:rPr lang="en-US"/>
              <a:t>same job—just capitalized differently. Lowercasing ensures the model treats them as identical. </a:t>
            </a:r>
          </a:p>
          <a:p>
            <a:r>
              <a:rPr lang="en-US"/>
              <a:t>HTML Tag Removal: </a:t>
            </a:r>
          </a:p>
          <a:p>
            <a:r>
              <a:rPr lang="en-US"/>
              <a:t>Many job posts are scraped from websites, so they’re full of hidden HTML tags like &lt;div&gt; or &lt;b&gt;. We </a:t>
            </a:r>
          </a:p>
          <a:p>
            <a:r>
              <a:rPr lang="en-US"/>
              <a:t>stripped these out—because a tag like &lt;p&gt; tells us nothing about whether the job is real or fake. </a:t>
            </a:r>
          </a:p>
          <a:p>
            <a:r>
              <a:rPr lang="en-US"/>
              <a:t>Contraction Expansion: </a:t>
            </a:r>
          </a:p>
          <a:p>
            <a:r>
              <a:rPr lang="en-US"/>
              <a:t>We expanded contractions like “you’ll” to “you will” and “I’m” to “I am.” This helps the model see the </a:t>
            </a:r>
          </a:p>
          <a:p>
            <a:r>
              <a:rPr lang="en-US"/>
              <a:t>full meaning of phrases instead of getting distracted by shorthand. </a:t>
            </a:r>
          </a:p>
          <a:p>
            <a:r>
              <a:rPr lang="en-US"/>
              <a:t>Gibberish Removal: </a:t>
            </a:r>
          </a:p>
          <a:p>
            <a:r>
              <a:rPr lang="en-US"/>
              <a:t>Fake posts often include random text like ‘$$$’ or ‘ASAP123’ to grab attention. We filtered these </a:t>
            </a:r>
          </a:p>
          <a:p>
            <a:r>
              <a:rPr lang="en-US"/>
              <a:t>out—because gibberish is a red flag for scams, but it’s useless for training. </a:t>
            </a:r>
          </a:p>
          <a:p>
            <a:r>
              <a:rPr lang="en-US"/>
              <a:t>Lemmatization &amp; Stopwords: </a:t>
            </a:r>
          </a:p>
          <a:p>
            <a:r>
              <a:rPr lang="en-US"/>
              <a:t>Finally, we boiled words down to their root forms (lemmatization), so ‘running’ and ‘ran’ both become </a:t>
            </a:r>
          </a:p>
          <a:p>
            <a:r>
              <a:rPr lang="en-US"/>
              <a:t>‘run.’ We also removed filler words (stopwords) like ‘the’ or ‘and’—they add noise without meaning. </a:t>
            </a:r>
          </a:p>
          <a:p>
            <a:r>
              <a:rPr lang="en-US"/>
              <a:t>The result? A clean, structured dataset where the model can focus on what actually matters—like </a:t>
            </a:r>
          </a:p>
          <a:p>
            <a:r>
              <a:rPr lang="en-US"/>
              <a:t>suspicious wording or missing company details—instead of getting lost in the noise."** </a:t>
            </a:r>
          </a:p>
          <a:p>
            <a:r>
              <a:rPr lang="en-US"/>
              <a:t>(Pause, then transition to the next topic:) </a:t>
            </a:r>
          </a:p>
          <a:p>
            <a:r>
              <a:rPr lang="en-US"/>
              <a:t>"But cleaning text alone isn’t enough. To detect scams, we also needed to extract meaningful </a:t>
            </a:r>
          </a:p>
          <a:p>
            <a:r>
              <a:rPr lang="en-US"/>
              <a:t>features—which brings us to TF-IDF and BERT…" </a:t>
            </a:r>
          </a:p>
          <a:p>
            <a:r>
              <a:rPr lang="en-US"/>
              <a:t>"TF-IDF assigns weights based on two factors: term frequency (TF) — how often a word appears in a </a:t>
            </a:r>
          </a:p>
          <a:p>
            <a:r>
              <a:rPr lang="en-US"/>
              <a:t>document — and inverse document frequency (IDF) — how rare it is across all posts. This ensures words </a:t>
            </a:r>
          </a:p>
          <a:p>
            <a:r>
              <a:rPr lang="en-US"/>
              <a:t>like 'Python' get high weights if they're frequent in one job but uncommon overall, while generic terms </a:t>
            </a:r>
          </a:p>
          <a:p>
            <a:r>
              <a:rPr lang="en-US"/>
              <a:t>like 'team' get low weights. We capped it at 5,000 words to focus computational power on the most </a:t>
            </a:r>
          </a:p>
          <a:p>
            <a:r>
              <a:rPr lang="en-US"/>
              <a:t>meaningful signals." </a:t>
            </a:r>
          </a:p>
          <a:p>
            <a:r>
              <a:rPr lang="en-US"/>
              <a:t>"Think of it like highlighting unique ingredients in a recipe — common ones like 'salt' get ignored, but </a:t>
            </a:r>
          </a:p>
          <a:p>
            <a:r>
              <a:rPr lang="en-US"/>
              <a:t>rare spices like 'saffron' stand out." </a:t>
            </a:r>
          </a:p>
          <a:p>
            <a:r>
              <a:rPr lang="en-US"/>
              <a:t>But not all features are created equal. We used: </a:t>
            </a:r>
          </a:p>
          <a:p>
            <a:r>
              <a:rPr lang="en-US"/>
              <a:t>Mutual Information for numeric data. </a:t>
            </a:r>
          </a:p>
          <a:p>
            <a:r>
              <a:rPr lang="en-US"/>
              <a:t>Chi-Square tests for categorical data. </a:t>
            </a:r>
          </a:p>
          <a:p>
            <a:r>
              <a:rPr lang="en-US"/>
              <a:t>SelectKBest for Random Forest </a:t>
            </a:r>
          </a:p>
          <a:p>
            <a:r>
              <a:rPr lang="en-US"/>
              <a:t>This rigorous process ensured our models trained on meaningful patterns, not noise. Speaking of </a:t>
            </a:r>
          </a:p>
          <a:p>
            <a:r>
              <a:rPr lang="en-US"/>
              <a:t>models…" </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5.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"Our target variable was straightforward: a binary flag marking posts as fraudulent (1) or legitimate (0). </a:t>
            </a:r>
          </a:p>
          <a:p>
            <a:r>
              <a:rPr lang="en-US"/>
              <a:t>But we faced a major hurdle: class imbalance. </a:t>
            </a:r>
          </a:p>
          <a:p>
            <a:r>
              <a:rPr lang="en-US"/>
              <a:t>In the original dataset, only 5% of posts were fraudulent. [Pause] That’s like finding 20 needles in a </a:t>
            </a:r>
          </a:p>
          <a:p>
            <a:r>
              <a:rPr lang="en-US"/>
              <a:t>haystack of 400 pieces of straw! To fix this, we undersampled the majority class, creating a balanced </a:t>
            </a:r>
          </a:p>
          <a:p>
            <a:r>
              <a:rPr lang="en-US"/>
              <a:t>dataset for training. </a:t>
            </a:r>
          </a:p>
          <a:p>
            <a:r>
              <a:rPr lang="en-US"/>
              <a:t>We also dropped sparse columns like salary_range and location that added little value. </a:t>
            </a:r>
          </a:p>
          <a:p>
            <a:r>
              <a:rPr lang="en-US"/>
              <a:t>Now, you might wonder—which model performed best? That’s where things get interesting…"</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6.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1.	Mutual Information (MI) tells us how much knowing a feature helps us predict if a job posting is fraudulent. The Mutual Information (MI) score is a measure from information theory that quantifies the amount of information obtained about one feature by observing the other feature.  If a feature has a high MI score with the target (fraud or not fraud), it means the feature is useful for making that prediction. In simple terms, if knowing X changes your belief about Y, then MI is greater than zero. MI helps us capture all types of relationships, not just linear ones, which is important because real-world data is messy.</a:t>
            </a:r>
          </a:p>
          <a:p>
            <a:r>
              <a:rPr lang="en-US"/>
              <a:t>2.	Chi-Square is a statistical test used with categorical features, especially for models like Naive Bayes. For example, let’s say you have a feature like job_type (full-time, part-time, contract). Chi-Square checks if the distribution of fraud vs. legit jobs is significantly different for each job type. If the distribution is very different from what we'd expect by chance, then job type is an important feature for predicting fraud.</a:t>
            </a:r>
          </a:p>
          <a:p>
            <a:r>
              <a:rPr lang="en-US"/>
              <a:t>3.	ANOVA with SelectKBest is used in Random Forest. It compares the variance between classes (fraud vs. legit) to the variance within classes. If a feature has very different means for fraud vs. legit jobs, it’s considered a strong predictor. The greater the difference between the groups, the more important the feature is for prediction.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7.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Logistic Regression is an efficient, interpretable model for binary classification, estimating probabilities with clear decision boundaries. Random Forest, an ensemble method, builds multiple decision trees, effectively handling various data distributions and capturing non-linear relationships, while providing feature importance insights. Naive Bayes, based on independent features, excels in text classification tasks like spam filtering due to its speed and scalability, applying Bayes' Theorem to predict class probabilities.</a:t>
            </a:r>
          </a:p>
          <a:p>
            <a:r>
              <a:rPr lang="en-US"/>
              <a:t/>
            </a:r>
          </a:p>
          <a:p>
            <a:r>
              <a:rPr lang="en-US"/>
              <a:t>GloVe (Global Vectors for Word Representation) is a pre-trained word embedding model that captures word meanings through global co-occurrence statistics from a vast corpus. It translates text into semantic vectors, improving the XGBoost model's ability to differentiate between legitimate and fraudulent job postings by clustering related words.</a:t>
            </a:r>
          </a:p>
          <a:p>
            <a:r>
              <a:rPr lang="en-US"/>
              <a:t/>
            </a:r>
          </a:p>
          <a:p>
            <a:r>
              <a:rPr lang="en-US"/>
              <a:t>XGBoost, a gradient boosting algorithm, combines weak learners to create accurate models, particularly effective for imbalanced datasets like fraudulent job postings. It captures complex patterns, incorporates regularization to prevent overfitting, and sequentially trains models to correct previous errors, making it powerful for various machine learning tasks.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8.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Narrative:</a:t>
            </a:r>
          </a:p>
          <a:p>
            <a:r>
              <a:rPr lang="en-US"/>
              <a:t>“We’ve trained five models—using techniques like stratified splits and hyperparameter tuning. Now, how do we pick the best one for real-world fraud detection? Let’s analyze their performance across five critical metrics.”</a:t>
            </a:r>
          </a:p>
          <a:p>
            <a:r>
              <a:rPr lang="en-US"/>
              <a:t/>
            </a:r>
          </a:p>
          <a:p>
            <a:r>
              <a:rPr lang="en-US"/>
              <a:t>Q&amp;A Integration:</a:t>
            </a:r>
          </a:p>
          <a:p>
            <a:r>
              <a:rPr lang="en-US"/>
              <a:t/>
            </a:r>
          </a:p>
          <a:p>
            <a:r>
              <a:rPr lang="en-US"/>
              <a:t>Question (Self-posed): “Why not just pick the model with the highest accuracy?”</a:t>
            </a:r>
          </a:p>
          <a:p>
            <a:r>
              <a:rPr lang="en-US"/>
              <a:t>“Because accuracy alone is like judging a book by its cover. A model might be right 97% of the time but still fail</a:t>
            </a:r>
          </a:p>
          <a:p>
            <a:r>
              <a:rPr lang="en-US"/>
              <a:t/>
            </a:r>
          </a:p>
          <a:p>
            <a:r>
              <a:rPr lang="en-US"/>
              <a:t/>
            </a:r>
          </a:p>
          <a:p>
            <a:r>
              <a:rPr lang="en-US"/>
              <a:t/>
            </a:r>
          </a:p>
          <a:p>
            <a:r>
              <a:rPr lang="en-US"/>
              <a:t>Observation:</a:t>
            </a:r>
          </a:p>
          <a:p>
            <a:r>
              <a:rPr lang="en-US"/>
              <a:t>All models exceed 93% accuracy, suggesting the task isn’t overly complex. Random Forest leads (0.9786), but Logistic Regression (0.9759) keeps up.</a:t>
            </a:r>
          </a:p>
          <a:p>
            <a:r>
              <a:rPr lang="en-US"/>
              <a:t/>
            </a:r>
          </a:p>
          <a:p>
            <a:r>
              <a:rPr lang="en-US"/>
              <a:t>Deep Dive:</a:t>
            </a:r>
          </a:p>
          <a:p>
            <a:r>
              <a:rPr lang="en-US"/>
              <a:t/>
            </a:r>
          </a:p>
          <a:p>
            <a:r>
              <a:rPr lang="en-US"/>
              <a:t>Why isn’t BERT on top?</a:t>
            </a:r>
          </a:p>
          <a:p>
            <a:r>
              <a:rPr lang="en-US"/>
              <a:t>Transformers like BERT excel in deep context tasks (e.g., sentiment analysis), but fake job detection may rely on simpler keyword patterns.</a:t>
            </a:r>
          </a:p>
          <a:p>
            <a:r>
              <a:rPr lang="en-US"/>
              <a:t/>
            </a:r>
          </a:p>
          <a:p>
            <a:r>
              <a:rPr lang="en-US"/>
              <a:t>Q&amp;A: “Why would a simpler model compete with BERT?”</a:t>
            </a:r>
          </a:p>
          <a:p>
            <a:r>
              <a:rPr lang="en-US"/>
              <a:t>“BERT’s strength in understanding context isn’t fully leveraged here. Fraudulent job posts often use obvious red flags like ‘urgent hiring’ or mismatched titles—patterns even basic models catch.”</a:t>
            </a:r>
          </a:p>
          <a:p>
            <a:r>
              <a:rPr lang="en-US"/>
              <a:t/>
            </a:r>
          </a:p>
          <a:p>
            <a:r>
              <a:rPr lang="en-US"/>
              <a:t>XGBoost + GloVe’s lower accuracy (0.9332) vs. higher CV score (0.9664) hints at overfitting:</a:t>
            </a:r>
          </a:p>
          <a:p>
            <a:r>
              <a:rPr lang="en-US"/>
              <a:t/>
            </a:r>
          </a:p>
          <a:p>
            <a:r>
              <a:rPr lang="en-US"/>
              <a:t>Q&amp;A: “How did overfitting happen here?”</a:t>
            </a:r>
          </a:p>
          <a:p>
            <a:r>
              <a:rPr lang="en-US"/>
              <a:t>“GloVe’s pre-trained embeddings might include irrelevant general language features, causing the model to ‘memorize’ noise instead of job-specific fraud signals.”</a:t>
            </a:r>
          </a:p>
          <a:p>
            <a:r>
              <a:rPr lang="en-US"/>
              <a:t/>
            </a:r>
          </a:p>
          <a:p>
            <a:r>
              <a:rPr lang="en-US"/>
              <a:t>Real-World Link:</a:t>
            </a:r>
          </a:p>
          <a:p>
            <a:r>
              <a:rPr lang="en-US"/>
              <a:t>“In spam detection, 97% accuracy is great, but we’d sacrifice it for higher precision to avoid blocking legitimate emails.”</a:t>
            </a:r>
          </a:p>
          <a:p>
            <a:r>
              <a:rPr lang="en-US"/>
              <a:t/>
            </a:r>
          </a:p>
          <a:p>
            <a:r>
              <a:rPr lang="en-US"/>
              <a:t>Transition:</a:t>
            </a:r>
          </a:p>
          <a:p>
            <a:r>
              <a:rPr lang="en-US"/>
              <a:t>“But accuracy alone doesn’t tell the whole story. Let’s dig into precision.”</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9.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2 – Precision</a:t>
            </a:r>
          </a:p>
          <a:p>
            <a:r>
              <a:rPr lang="en-US"/>
              <a:t>“Logistic Regression has highest precision (0.9820), missing fewer false alarms!”</a:t>
            </a:r>
          </a:p>
          <a:p>
            <a:r>
              <a:rPr lang="en-US"/>
              <a:t/>
            </a:r>
          </a:p>
          <a:p>
            <a:r>
              <a:rPr lang="en-US"/>
              <a:t>Observation:</a:t>
            </a:r>
          </a:p>
          <a:p>
            <a:r>
              <a:rPr lang="en-US"/>
              <a:t>High precision = fewer false positives. Crucial for fraud detection to avoid mistrusting legitimate companies.</a:t>
            </a:r>
          </a:p>
          <a:p>
            <a:r>
              <a:rPr lang="en-US"/>
              <a:t/>
            </a:r>
          </a:p>
          <a:p>
            <a:r>
              <a:rPr lang="en-US"/>
              <a:t>Deep Dive:</a:t>
            </a:r>
          </a:p>
          <a:p>
            <a:r>
              <a:rPr lang="en-US"/>
              <a:t/>
            </a:r>
          </a:p>
          <a:p>
            <a:r>
              <a:rPr lang="en-US"/>
              <a:t>Naive Bayes’ low precision (0.9222):</a:t>
            </a:r>
          </a:p>
          <a:p>
            <a:r>
              <a:rPr lang="en-US"/>
              <a:t/>
            </a:r>
          </a:p>
          <a:p>
            <a:r>
              <a:rPr lang="en-US"/>
              <a:t>Q&amp;A: “Why does Naive Bayes struggle here?”</a:t>
            </a:r>
          </a:p>
          <a:p>
            <a:r>
              <a:rPr lang="en-US"/>
              <a:t>“Its assumption that features (e.g., job title, description) are independent which is unrealistic. Phrases like ‘no experience needed’ and ‘wire transfer’ together signal fraud—but Naive Bayes treats them in isolation.”</a:t>
            </a:r>
          </a:p>
          <a:p>
            <a:r>
              <a:rPr lang="en-US"/>
              <a:t/>
            </a:r>
          </a:p>
          <a:p>
            <a:r>
              <a:rPr lang="en-US"/>
              <a:t>Random Forest (0.9765) balances precision and recall, while BERT’s moderate precision (0.9250) suggests it struggles with class imbalance.</a:t>
            </a:r>
          </a:p>
          <a:p>
            <a:r>
              <a:rPr lang="en-US"/>
              <a:t/>
            </a:r>
          </a:p>
          <a:p>
            <a:r>
              <a:rPr lang="en-US"/>
              <a:t>Q&amp;A: “Why does BERT flatter with class imbalance?”</a:t>
            </a:r>
          </a:p>
          <a:p>
            <a:r>
              <a:rPr lang="en-US"/>
              <a:t>“Transformers thrive on large, balanced datasets. Our undersampled data with around 866 fraud class and 1000 non fraud likely starved BERT of complex fraud patterns.”</a:t>
            </a:r>
          </a:p>
          <a:p>
            <a:r>
              <a:rPr lang="en-US"/>
              <a:t/>
            </a:r>
          </a:p>
          <a:p>
            <a:r>
              <a:rPr lang="en-US"/>
              <a:t>Real-World Link:</a:t>
            </a:r>
          </a:p>
          <a:p>
            <a:r>
              <a:rPr lang="en-US"/>
              <a:t>“Think of precision as a fire alarm: Too many false alarms, and people stop trusting it.”</a:t>
            </a:r>
          </a:p>
          <a:p>
            <a:r>
              <a:rPr lang="en-US"/>
              <a:t/>
            </a:r>
          </a:p>
          <a:p>
            <a:r>
              <a:rPr lang="en-US"/>
              <a:t>Transition:</a:t>
            </a:r>
          </a:p>
          <a:p>
            <a:r>
              <a:rPr lang="en-US"/>
              <a:t>“But what if missing a fraudulent post is worse? Enter recall.”</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0.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“Naive Bayes catches almost all frauds (0.9765 recall)—but at what cost?”</a:t>
            </a:r>
          </a:p>
          <a:p>
            <a:r>
              <a:rPr lang="en-US"/>
              <a:t/>
            </a:r>
          </a:p>
          <a:p>
            <a:r>
              <a:rPr lang="en-US"/>
              <a:t>Observation:</a:t>
            </a:r>
          </a:p>
          <a:p>
            <a:r>
              <a:rPr lang="en-US"/>
              <a:t>High recall = minimal missed frauds. Critical in medical diagnostics but risky here if it overwhelms users with false alerts.</a:t>
            </a:r>
          </a:p>
          <a:p>
            <a:r>
              <a:rPr lang="en-US"/>
              <a:t/>
            </a:r>
          </a:p>
          <a:p>
            <a:r>
              <a:rPr lang="en-US"/>
              <a:t>Deep Dive:</a:t>
            </a:r>
          </a:p>
          <a:p>
            <a:r>
              <a:rPr lang="en-US"/>
              <a:t/>
            </a:r>
          </a:p>
          <a:p>
            <a:r>
              <a:rPr lang="en-US"/>
              <a:t>Naive Bayes’ high recall:</a:t>
            </a:r>
          </a:p>
          <a:p>
            <a:r>
              <a:rPr lang="en-US"/>
              <a:t/>
            </a:r>
          </a:p>
          <a:p>
            <a:r>
              <a:rPr lang="en-US"/>
              <a:t>Q&amp;A: “Why is Naive Bayes so sensitive?”</a:t>
            </a:r>
          </a:p>
          <a:p>
            <a:r>
              <a:rPr lang="en-US"/>
              <a:t>“It treats every suspicious word as a standalone red flag. For example, ‘flexible hours’—common in both scams and gig jobs—triggers a fraud alert too easily.”</a:t>
            </a:r>
          </a:p>
          <a:p>
            <a:r>
              <a:rPr lang="en-US"/>
              <a:t/>
            </a:r>
          </a:p>
          <a:p>
            <a:r>
              <a:rPr lang="en-US"/>
              <a:t>BERT’s recall (0.9530):</a:t>
            </a:r>
          </a:p>
          <a:p>
            <a:r>
              <a:rPr lang="en-US"/>
              <a:t/>
            </a:r>
          </a:p>
          <a:p>
            <a:r>
              <a:rPr lang="en-US"/>
              <a:t>Q&amp;A: “Why doesn’t BERT achieve perfect recall?”</a:t>
            </a:r>
          </a:p>
          <a:p>
            <a:r>
              <a:rPr lang="en-US"/>
              <a:t>“BERT needs context to connect subtle clues. Without enough data, it misses scams that use cleverly disguised language.”</a:t>
            </a:r>
          </a:p>
          <a:p>
            <a:r>
              <a:rPr lang="en-US"/>
              <a:t/>
            </a:r>
          </a:p>
          <a:p>
            <a:r>
              <a:rPr lang="en-US"/>
              <a:t>Real-World Link:</a:t>
            </a:r>
          </a:p>
          <a:p>
            <a:r>
              <a:rPr lang="en-US"/>
              <a:t>“Imagine a COVID test with high recall: It catches all cases but quarantines healthy people. Trade-offs matter!”</a:t>
            </a:r>
          </a:p>
          <a:p>
            <a:r>
              <a:rPr lang="en-US"/>
              <a:t/>
            </a:r>
          </a:p>
          <a:p>
            <a:r>
              <a:rPr lang="en-US"/>
              <a:t>Transition:</a:t>
            </a:r>
          </a:p>
          <a:p>
            <a:r>
              <a:rPr lang="en-US"/>
              <a:t>“To balance precision and recall, we need the F1 score.”</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1.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“Random Forest wins the F1 battle (0.9765)—but why doesn’t BERT dominate?”</a:t>
            </a:r>
          </a:p>
          <a:p>
            <a:r>
              <a:rPr lang="en-US"/>
              <a:t/>
            </a:r>
          </a:p>
          <a:p>
            <a:r>
              <a:rPr lang="en-US"/>
              <a:t>Observation:</a:t>
            </a:r>
          </a:p>
          <a:p>
            <a:r>
              <a:rPr lang="en-US"/>
              <a:t>F1 balances precision and recall. Random Forest’s strength comes from ensemble learning, combining multiple decision trees.</a:t>
            </a:r>
          </a:p>
          <a:p>
            <a:r>
              <a:rPr lang="en-US"/>
              <a:t/>
            </a:r>
          </a:p>
          <a:p>
            <a:r>
              <a:rPr lang="en-US"/>
              <a:t>Deep Dive:</a:t>
            </a:r>
          </a:p>
          <a:p>
            <a:r>
              <a:rPr lang="en-US"/>
              <a:t/>
            </a:r>
          </a:p>
          <a:p>
            <a:r>
              <a:rPr lang="en-US"/>
              <a:t>Logistic Regression’s strong F1 (0.9733):</a:t>
            </a:r>
          </a:p>
          <a:p>
            <a:r>
              <a:rPr lang="en-US"/>
              <a:t/>
            </a:r>
          </a:p>
          <a:p>
            <a:r>
              <a:rPr lang="en-US"/>
              <a:t>Q&amp;A: “How does Logistic Regression stay competitive?”</a:t>
            </a:r>
          </a:p>
          <a:p>
            <a:r>
              <a:rPr lang="en-US"/>
              <a:t>“Its simplicity forces it to focus on the strongest fraud indicators, like  company profiles, requirements avoiding distractions from noisy features.”</a:t>
            </a:r>
          </a:p>
          <a:p>
            <a:r>
              <a:rPr lang="en-US"/>
              <a:t/>
            </a:r>
          </a:p>
          <a:p>
            <a:r>
              <a:rPr lang="en-US"/>
              <a:t>XGBoost + GloVe’s lower F1 (0.9267):</a:t>
            </a:r>
          </a:p>
          <a:p>
            <a:r>
              <a:rPr lang="en-US"/>
              <a:t/>
            </a:r>
          </a:p>
          <a:p>
            <a:r>
              <a:rPr lang="en-US"/>
              <a:t>Q&amp;A: “Why do embeddings hurt XGBoost here?”</a:t>
            </a:r>
          </a:p>
          <a:p>
            <a:r>
              <a:rPr lang="en-US"/>
              <a:t>“GloVe’s general word vectors dilute job-specific terms. TF-IDF’s keyword-focused approach (used in logistic regression) works better for this task.”</a:t>
            </a:r>
          </a:p>
          <a:p>
            <a:r>
              <a:rPr lang="en-US"/>
              <a:t/>
            </a:r>
          </a:p>
          <a:p>
            <a:r>
              <a:rPr lang="en-US"/>
              <a:t/>
            </a:r>
          </a:p>
          <a:p>
            <a:r>
              <a:rPr lang="en-US"/>
              <a:t>Transition:</a:t>
            </a:r>
          </a:p>
          <a:p>
            <a:r>
              <a:rPr lang="en-US"/>
              <a:t>“Finally, which model is most reliable across different datasets? Let’s check CV scores.”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notesSlides/notesSlide12.xml><?xml version="1.0" encoding="utf-8"?>
<p:notes xmlns:p="http://schemas.openxmlformats.org/presentationml/2006/main" xmlns:a="http://schemas.openxmlformats.org/drawingml/2006/main">
  <p:cSld>
    <p:spTree xmlns:r="http://schemas.openxmlformats.org/officeDocument/2006/relationships">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id="{B7268E1E-0E44-426D-905E-8AD9B19D2182}" type="datetimeFigureOut">
              <a:rPr lang="cs-CZ" smtClean="0"/>
              <a:t>1.7.2013</a:t>
            </a:r>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r>
              <a:rPr lang="en-US"/>
              <a:t>Slide 5 – CV Score</a:t>
            </a:r>
          </a:p>
          <a:p>
            <a:r>
              <a:rPr lang="en-US"/>
              <a:t>“BERT’s CV score (0.9760) crushes others—so why isn’t it our winner?”</a:t>
            </a:r>
          </a:p>
          <a:p>
            <a:r>
              <a:rPr lang="en-US"/>
              <a:t/>
            </a:r>
          </a:p>
          <a:p>
            <a:r>
              <a:rPr lang="en-US"/>
              <a:t>Observation:</a:t>
            </a:r>
          </a:p>
          <a:p>
            <a:r>
              <a:rPr lang="en-US"/>
              <a:t>High CV score = consistent performance across data splits. BERT’s transformers generalize well, but its lower accuracy suggests domain mismatch.</a:t>
            </a:r>
          </a:p>
          <a:p>
            <a:r>
              <a:rPr lang="en-US"/>
              <a:t/>
            </a:r>
          </a:p>
          <a:p>
            <a:r>
              <a:rPr lang="en-US"/>
              <a:t>Deep Dive:</a:t>
            </a:r>
          </a:p>
          <a:p>
            <a:r>
              <a:rPr lang="en-US"/>
              <a:t/>
            </a:r>
          </a:p>
          <a:p>
            <a:r>
              <a:rPr lang="en-US"/>
              <a:t>XGBoost + GloVe’s CV (0.9664) &gt; accuracy (0.9332):</a:t>
            </a:r>
          </a:p>
          <a:p>
            <a:r>
              <a:rPr lang="en-US"/>
              <a:t/>
            </a:r>
          </a:p>
          <a:p>
            <a:r>
              <a:rPr lang="en-US"/>
              <a:t>Q&amp;A: “Does this mean our test data is flawed?”</a:t>
            </a:r>
          </a:p>
          <a:p>
            <a:r>
              <a:rPr lang="en-US"/>
              <a:t>“Possibly! The test set might lack diverse fraud patterns, making XGBoost’s embeddings seem worse than they are.”</a:t>
            </a:r>
          </a:p>
          <a:p>
            <a:r>
              <a:rPr lang="en-US"/>
              <a:t/>
            </a:r>
          </a:p>
          <a:p>
            <a:r>
              <a:rPr lang="en-US"/>
              <a:t>Logistic Regression’s lower CV (0.9641):</a:t>
            </a:r>
          </a:p>
          <a:p>
            <a:r>
              <a:rPr lang="en-US"/>
              <a:t/>
            </a:r>
          </a:p>
          <a:p>
            <a:r>
              <a:rPr lang="en-US"/>
              <a:t>Q&amp;A: “Why do simple models generalize less?”</a:t>
            </a:r>
          </a:p>
          <a:p>
            <a:r>
              <a:rPr lang="en-US"/>
              <a:t>“They’re like strict rulebooks—great for clear patterns but brittle when faced with new scam tactics.”</a:t>
            </a:r>
          </a:p>
          <a:p>
            <a:r>
              <a:rPr lang="en-US"/>
              <a:t/>
            </a:r>
          </a:p>
          <a:p>
            <a:r>
              <a:rPr lang="en-US"/>
              <a:t>Real-World Link:</a:t>
            </a:r>
          </a:p>
          <a:p>
            <a:r>
              <a:rPr lang="en-US"/>
              <a:t>“CV is like a restaurant review: Consistency across diners (data splits) matters more than one glowing review (high accuracy).”</a:t>
            </a:r>
          </a:p>
          <a:p>
            <a:r>
              <a:rPr lang="en-US"/>
              <a:t/>
            </a:r>
          </a:p>
          <a:p>
            <a:r>
              <a:rPr lang="en-US"/>
              <a:t>Closing:</a:t>
            </a:r>
          </a:p>
          <a:p>
            <a:r>
              <a:rPr lang="en-US"/>
              <a:t>“So, which model is best? It depends! Need precision? Pick Logistic Regression. Prioritize consistency? BERT. Real-world AI is about trade-offs, not just leaderboards.”</a:t>
            </a: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id="{871B2431-D351-4C6E-A3CF-9DFAC0E3E050}" type="slidenum">
              <a:rPr lang="cs-CZ" smtClean="0"/>
              <a:t>‹#›</a:t>
            </a:r>
          </a:p>
        </p:txBody>
      </p:sp>
    </p:spTree>
  </p:cSld>
  <p:clrMapOvr>
    <a:masterClrMapping/>
  </p:clrMapOvr>
</p:note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4.pn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svg" Type="http://schemas.openxmlformats.org/officeDocument/2006/relationships/image"/><Relationship Id="rId11" Target="../media/image15.png" Type="http://schemas.openxmlformats.org/officeDocument/2006/relationships/image"/><Relationship Id="rId12" Target="../media/image16.png" Type="http://schemas.openxmlformats.org/officeDocument/2006/relationships/image"/><Relationship Id="rId13" Target="../media/image17.gif" Type="http://schemas.openxmlformats.org/officeDocument/2006/relationships/image"/><Relationship Id="rId2" Target="../notesSlides/notesSlide3.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9.pn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svg" Type="http://schemas.openxmlformats.org/officeDocument/2006/relationships/image"/><Relationship Id="rId9" Target="../media/image13.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2" Target="../notesSlides/notesSlide4.xml" Type="http://schemas.openxmlformats.org/officeDocument/2006/relationships/notesSlide"/><Relationship Id="rId3" Target="../media/image18.png" Type="http://schemas.openxmlformats.org/officeDocument/2006/relationships/image"/><Relationship Id="rId4" Target="../media/image19.svg" Type="http://schemas.openxmlformats.org/officeDocument/2006/relationships/image"/><Relationship Id="rId5" Target="../media/image1.png" Type="http://schemas.openxmlformats.org/officeDocument/2006/relationships/image"/><Relationship Id="rId6" Target="../media/image2.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5.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28.png" Type="http://schemas.openxmlformats.org/officeDocument/2006/relationships/image"/><Relationship Id="rId6" Target="../media/image2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0.png" Type="http://schemas.openxmlformats.org/officeDocument/2006/relationships/image"/><Relationship Id="rId3" Target="../media/image31.png" Type="http://schemas.openxmlformats.org/officeDocument/2006/relationships/image"/><Relationship Id="rId4" Target="../media/image32.svg" Type="http://schemas.openxmlformats.org/officeDocument/2006/relationships/image"/><Relationship Id="rId5" Target="../media/image33.png" Type="http://schemas.openxmlformats.org/officeDocument/2006/relationships/image"/><Relationship Id="rId6" Target="../media/image34.png" Type="http://schemas.openxmlformats.org/officeDocument/2006/relationships/image"/><Relationship Id="rId7" Target="../media/image1.png" Type="http://schemas.openxmlformats.org/officeDocument/2006/relationships/image"/><Relationship Id="rId8" Target="../media/image2.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0.svg" Type="http://schemas.openxmlformats.org/officeDocument/2006/relationships/image"/><Relationship Id="rId11" Target="../media/image41.png" Type="http://schemas.openxmlformats.org/officeDocument/2006/relationships/image"/><Relationship Id="rId2" Target="../notesSlides/notesSlide6.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35.png" Type="http://schemas.openxmlformats.org/officeDocument/2006/relationships/image"/><Relationship Id="rId6" Target="../media/image36.svg" Type="http://schemas.openxmlformats.org/officeDocument/2006/relationships/image"/><Relationship Id="rId7" Target="../media/image37.png" Type="http://schemas.openxmlformats.org/officeDocument/2006/relationships/image"/><Relationship Id="rId8" Target="../media/image38.svg" Type="http://schemas.openxmlformats.org/officeDocument/2006/relationships/image"/><Relationship Id="rId9" Target="../media/image39.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7.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8.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42.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9.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43.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0.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4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1.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45.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notesSlides/notesSlide12.xml" Type="http://schemas.openxmlformats.org/officeDocument/2006/relationships/notesSlide"/><Relationship Id="rId3" Target="../media/image1.png" Type="http://schemas.openxmlformats.org/officeDocument/2006/relationships/image"/><Relationship Id="rId4" Target="../media/image2.svg" Type="http://schemas.openxmlformats.org/officeDocument/2006/relationships/image"/><Relationship Id="rId5" Target="../media/image46.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7.jpeg" Type="http://schemas.openxmlformats.org/officeDocument/2006/relationships/image"/><Relationship Id="rId5" Target="../media/VAGj-czfZRk.mp4" Type="http://schemas.openxmlformats.org/officeDocument/2006/relationships/video"/><Relationship Id="rId6" Target="../media/VAGj-czfZRk.mp4" Type="http://schemas.microsoft.com/office/2007/relationships/media"/></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8.png" Type="http://schemas.openxmlformats.org/officeDocument/2006/relationships/image"/><Relationship Id="rId5" Target="../media/image49.svg" Type="http://schemas.openxmlformats.org/officeDocument/2006/relationships/image"/><Relationship Id="rId6" Target="../media/image50.png" Type="http://schemas.openxmlformats.org/officeDocument/2006/relationships/image"/><Relationship Id="rId7" Target="../media/image51.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4000500"/>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sp>
        <p:nvSpPr>
          <p:cNvPr name="TextBox 3" id="3"/>
          <p:cNvSpPr txBox="true"/>
          <p:nvPr/>
        </p:nvSpPr>
        <p:spPr>
          <a:xfrm rot="0">
            <a:off x="14118031" y="8532083"/>
            <a:ext cx="3141269" cy="471805"/>
          </a:xfrm>
          <a:prstGeom prst="rect">
            <a:avLst/>
          </a:prstGeom>
        </p:spPr>
        <p:txBody>
          <a:bodyPr anchor="t" rtlCol="false" tIns="0" lIns="0" bIns="0" rIns="0">
            <a:spAutoFit/>
          </a:bodyPr>
          <a:lstStyle/>
          <a:p>
            <a:pPr algn="r">
              <a:lnSpc>
                <a:spcPts val="3920"/>
              </a:lnSpc>
            </a:pPr>
            <a:r>
              <a:rPr lang="en-US" b="true" sz="2800">
                <a:solidFill>
                  <a:srgbClr val="154533"/>
                </a:solidFill>
                <a:latin typeface="Montserrat Medium"/>
                <a:ea typeface="Montserrat Medium"/>
                <a:cs typeface="Montserrat Medium"/>
                <a:sym typeface="Montserrat Medium"/>
              </a:rPr>
              <a:t>Date : 8/04/2025</a:t>
            </a:r>
          </a:p>
        </p:txBody>
      </p:sp>
      <p:sp>
        <p:nvSpPr>
          <p:cNvPr name="TextBox 4" id="4"/>
          <p:cNvSpPr txBox="true"/>
          <p:nvPr/>
        </p:nvSpPr>
        <p:spPr>
          <a:xfrm rot="0">
            <a:off x="150627" y="8532083"/>
            <a:ext cx="11047423" cy="967105"/>
          </a:xfrm>
          <a:prstGeom prst="rect">
            <a:avLst/>
          </a:prstGeom>
        </p:spPr>
        <p:txBody>
          <a:bodyPr anchor="t" rtlCol="false" tIns="0" lIns="0" bIns="0" rIns="0">
            <a:spAutoFit/>
          </a:bodyPr>
          <a:lstStyle/>
          <a:p>
            <a:pPr algn="l">
              <a:lnSpc>
                <a:spcPts val="3920"/>
              </a:lnSpc>
            </a:pPr>
            <a:r>
              <a:rPr lang="en-US" b="true" sz="2800" spc="963">
                <a:solidFill>
                  <a:srgbClr val="154533"/>
                </a:solidFill>
                <a:latin typeface="Montserrat Bold"/>
                <a:ea typeface="Montserrat Bold"/>
                <a:cs typeface="Montserrat Bold"/>
                <a:sym typeface="Montserrat Bold"/>
              </a:rPr>
              <a:t>INSTRUCTOR: DR TIMOTHY OLESKIW</a:t>
            </a:r>
          </a:p>
          <a:p>
            <a:pPr algn="l">
              <a:lnSpc>
                <a:spcPts val="3920"/>
              </a:lnSpc>
            </a:pPr>
          </a:p>
        </p:txBody>
      </p:sp>
      <p:sp>
        <p:nvSpPr>
          <p:cNvPr name="TextBox 5" id="5"/>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a:t>
            </a:r>
          </a:p>
        </p:txBody>
      </p:sp>
      <p:sp>
        <p:nvSpPr>
          <p:cNvPr name="TextBox 6" id="6"/>
          <p:cNvSpPr txBox="true"/>
          <p:nvPr/>
        </p:nvSpPr>
        <p:spPr>
          <a:xfrm rot="0">
            <a:off x="1479976" y="233861"/>
            <a:ext cx="11578986" cy="3537270"/>
          </a:xfrm>
          <a:prstGeom prst="rect">
            <a:avLst/>
          </a:prstGeom>
        </p:spPr>
        <p:txBody>
          <a:bodyPr anchor="t" rtlCol="false" tIns="0" lIns="0" bIns="0" rIns="0">
            <a:spAutoFit/>
          </a:bodyPr>
          <a:lstStyle/>
          <a:p>
            <a:pPr algn="l">
              <a:lnSpc>
                <a:spcPts val="6902"/>
              </a:lnSpc>
            </a:pPr>
            <a:r>
              <a:rPr lang="en-US" b="true" sz="6275">
                <a:solidFill>
                  <a:srgbClr val="154533"/>
                </a:solidFill>
                <a:latin typeface="Montserrat Ultra-Bold"/>
                <a:ea typeface="Montserrat Ultra-Bold"/>
                <a:cs typeface="Montserrat Ultra-Bold"/>
                <a:sym typeface="Montserrat Ultra-Bold"/>
              </a:rPr>
              <a:t>DETECTION AND CLASSIFICATION OF FAKE JOB RECRUITMENT POSTING</a:t>
            </a:r>
          </a:p>
        </p:txBody>
      </p:sp>
      <p:sp>
        <p:nvSpPr>
          <p:cNvPr name="TextBox 7" id="7"/>
          <p:cNvSpPr txBox="true"/>
          <p:nvPr/>
        </p:nvSpPr>
        <p:spPr>
          <a:xfrm rot="0">
            <a:off x="7465544" y="3581076"/>
            <a:ext cx="10822456" cy="4215138"/>
          </a:xfrm>
          <a:prstGeom prst="rect">
            <a:avLst/>
          </a:prstGeom>
        </p:spPr>
        <p:txBody>
          <a:bodyPr anchor="t" rtlCol="false" tIns="0" lIns="0" bIns="0" rIns="0">
            <a:spAutoFit/>
          </a:bodyPr>
          <a:lstStyle/>
          <a:p>
            <a:pPr algn="l">
              <a:lnSpc>
                <a:spcPts val="3740"/>
              </a:lnSpc>
            </a:pPr>
            <a:r>
              <a:rPr lang="en-US" sz="3400" b="true">
                <a:solidFill>
                  <a:srgbClr val="F9B314"/>
                </a:solidFill>
                <a:latin typeface="Montserrat Bold"/>
                <a:ea typeface="Montserrat Bold"/>
                <a:cs typeface="Montserrat Bold"/>
                <a:sym typeface="Montserrat Bold"/>
              </a:rPr>
              <a:t>By Team : DELTA</a:t>
            </a:r>
          </a:p>
          <a:p>
            <a:pPr algn="l">
              <a:lnSpc>
                <a:spcPts val="3740"/>
              </a:lnSpc>
            </a:pPr>
          </a:p>
          <a:p>
            <a:pPr algn="l">
              <a:lnSpc>
                <a:spcPts val="3740"/>
              </a:lnSpc>
            </a:pPr>
            <a:r>
              <a:rPr lang="en-US" sz="3400" b="true">
                <a:solidFill>
                  <a:srgbClr val="F9B314"/>
                </a:solidFill>
                <a:latin typeface="Montserrat Bold"/>
                <a:ea typeface="Montserrat Bold"/>
                <a:cs typeface="Montserrat Bold"/>
                <a:sym typeface="Montserrat Bold"/>
              </a:rPr>
              <a:t>Varun Biren Majithia :  200532798</a:t>
            </a:r>
          </a:p>
          <a:p>
            <a:pPr algn="l">
              <a:lnSpc>
                <a:spcPts val="3740"/>
              </a:lnSpc>
            </a:pPr>
          </a:p>
          <a:p>
            <a:pPr algn="l">
              <a:lnSpc>
                <a:spcPts val="3740"/>
              </a:lnSpc>
            </a:pPr>
            <a:r>
              <a:rPr lang="en-US" sz="3400" b="true">
                <a:solidFill>
                  <a:srgbClr val="F9B314"/>
                </a:solidFill>
                <a:latin typeface="Montserrat Bold"/>
                <a:ea typeface="Montserrat Bold"/>
                <a:cs typeface="Montserrat Bold"/>
                <a:sym typeface="Montserrat Bold"/>
              </a:rPr>
              <a:t>Samarth Subhash Deshpande : 200532782</a:t>
            </a:r>
          </a:p>
          <a:p>
            <a:pPr algn="l">
              <a:lnSpc>
                <a:spcPts val="3740"/>
              </a:lnSpc>
            </a:pPr>
          </a:p>
          <a:p>
            <a:pPr algn="l">
              <a:lnSpc>
                <a:spcPts val="3740"/>
              </a:lnSpc>
            </a:pPr>
            <a:r>
              <a:rPr lang="en-US" sz="3400" b="true">
                <a:solidFill>
                  <a:srgbClr val="F9B314"/>
                </a:solidFill>
                <a:latin typeface="Montserrat Bold"/>
                <a:ea typeface="Montserrat Bold"/>
                <a:cs typeface="Montserrat Bold"/>
                <a:sym typeface="Montserrat Bold"/>
              </a:rPr>
              <a:t>Jannatul Ferdousi Rajoni : 200530077</a:t>
            </a:r>
          </a:p>
          <a:p>
            <a:pPr algn="l">
              <a:lnSpc>
                <a:spcPts val="3740"/>
              </a:lnSpc>
            </a:pPr>
          </a:p>
          <a:p>
            <a:pPr algn="l">
              <a:lnSpc>
                <a:spcPts val="3740"/>
              </a:lnSpc>
            </a:pPr>
          </a:p>
        </p:txBody>
      </p:sp>
      <p:sp>
        <p:nvSpPr>
          <p:cNvPr name="Freeform 8" id="8"/>
          <p:cNvSpPr/>
          <p:nvPr/>
        </p:nvSpPr>
        <p:spPr>
          <a:xfrm flipH="false" flipV="false" rot="0">
            <a:off x="14308400" y="683223"/>
            <a:ext cx="2850374" cy="872563"/>
          </a:xfrm>
          <a:custGeom>
            <a:avLst/>
            <a:gdLst/>
            <a:ahLst/>
            <a:cxnLst/>
            <a:rect r="r" b="b" t="t" l="l"/>
            <a:pathLst>
              <a:path h="872563" w="2850374">
                <a:moveTo>
                  <a:pt x="0" y="0"/>
                </a:moveTo>
                <a:lnTo>
                  <a:pt x="2850374" y="0"/>
                </a:lnTo>
                <a:lnTo>
                  <a:pt x="2850374" y="872564"/>
                </a:lnTo>
                <a:lnTo>
                  <a:pt x="0" y="872564"/>
                </a:lnTo>
                <a:lnTo>
                  <a:pt x="0" y="0"/>
                </a:lnTo>
                <a:close/>
              </a:path>
            </a:pathLst>
          </a:custGeom>
          <a:blipFill>
            <a:blip r:embed="rId5"/>
            <a:stretch>
              <a:fillRect l="0" t="0" r="0" b="0"/>
            </a:stretch>
          </a:blipFill>
        </p:spPr>
      </p:sp>
      <p:grpSp>
        <p:nvGrpSpPr>
          <p:cNvPr name="Group 9" id="9"/>
          <p:cNvGrpSpPr/>
          <p:nvPr/>
        </p:nvGrpSpPr>
        <p:grpSpPr>
          <a:xfrm rot="0">
            <a:off x="840849" y="0"/>
            <a:ext cx="293896" cy="5143500"/>
            <a:chOff x="0" y="0"/>
            <a:chExt cx="77405" cy="1354667"/>
          </a:xfrm>
        </p:grpSpPr>
        <p:sp>
          <p:nvSpPr>
            <p:cNvPr name="Freeform 10" id="10"/>
            <p:cNvSpPr/>
            <p:nvPr/>
          </p:nvSpPr>
          <p:spPr>
            <a:xfrm flipH="false" flipV="false" rot="0">
              <a:off x="0" y="0"/>
              <a:ext cx="77405" cy="1354667"/>
            </a:xfrm>
            <a:custGeom>
              <a:avLst/>
              <a:gdLst/>
              <a:ahLst/>
              <a:cxnLst/>
              <a:rect r="r" b="b" t="t" l="l"/>
              <a:pathLst>
                <a:path h="1354667" w="77405">
                  <a:moveTo>
                    <a:pt x="0" y="0"/>
                  </a:moveTo>
                  <a:lnTo>
                    <a:pt x="77405" y="0"/>
                  </a:lnTo>
                  <a:lnTo>
                    <a:pt x="77405" y="1354667"/>
                  </a:lnTo>
                  <a:lnTo>
                    <a:pt x="0" y="1354667"/>
                  </a:lnTo>
                  <a:close/>
                </a:path>
              </a:pathLst>
            </a:custGeom>
            <a:solidFill>
              <a:srgbClr val="F9B314"/>
            </a:solidFill>
          </p:spPr>
        </p:sp>
        <p:sp>
          <p:nvSpPr>
            <p:cNvPr name="TextBox 11" id="11"/>
            <p:cNvSpPr txBox="true"/>
            <p:nvPr/>
          </p:nvSpPr>
          <p:spPr>
            <a:xfrm>
              <a:off x="0" y="-38100"/>
              <a:ext cx="77405" cy="1392767"/>
            </a:xfrm>
            <a:prstGeom prst="rect">
              <a:avLst/>
            </a:prstGeom>
          </p:spPr>
          <p:txBody>
            <a:bodyPr anchor="ctr" rtlCol="false" tIns="50800" lIns="50800" bIns="50800" rIns="50800"/>
            <a:lstStyle/>
            <a:p>
              <a:pPr algn="ctr">
                <a:lnSpc>
                  <a:spcPts val="2659"/>
                </a:lnSpc>
                <a:spcBef>
                  <a:spcPct val="0"/>
                </a:spcBef>
              </a:pPr>
            </a:p>
          </p:txBody>
        </p:sp>
      </p:gr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1273102" y="-1408891"/>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pic>
        <p:nvPicPr>
          <p:cNvPr name="Picture 3" id="3"/>
          <p:cNvPicPr>
            <a:picLocks noChangeAspect="true"/>
          </p:cNvPicPr>
          <p:nvPr/>
        </p:nvPicPr>
        <p:blipFill>
          <a:blip r:embed="rId5">
            <a:alphaModFix amt="56000"/>
          </a:blip>
          <a:srcRect l="10059" t="8329" r="10059" b="0"/>
          <a:stretch>
            <a:fillRect/>
          </a:stretch>
        </p:blipFill>
        <p:spPr>
          <a:xfrm flipH="false" flipV="false" rot="0">
            <a:off x="12871405" y="135541"/>
            <a:ext cx="5416595" cy="3543102"/>
          </a:xfrm>
          <a:prstGeom prst="rect">
            <a:avLst/>
          </a:prstGeom>
        </p:spPr>
      </p:pic>
      <p:grpSp>
        <p:nvGrpSpPr>
          <p:cNvPr name="Group 4" id="4"/>
          <p:cNvGrpSpPr/>
          <p:nvPr/>
        </p:nvGrpSpPr>
        <p:grpSpPr>
          <a:xfrm rot="0">
            <a:off x="250878" y="2121670"/>
            <a:ext cx="6700088" cy="223872"/>
            <a:chOff x="0" y="0"/>
            <a:chExt cx="1764632" cy="58962"/>
          </a:xfrm>
        </p:grpSpPr>
        <p:sp>
          <p:nvSpPr>
            <p:cNvPr name="Freeform 5" id="5"/>
            <p:cNvSpPr/>
            <p:nvPr/>
          </p:nvSpPr>
          <p:spPr>
            <a:xfrm flipH="false" flipV="false" rot="0">
              <a:off x="0" y="0"/>
              <a:ext cx="1764632" cy="58962"/>
            </a:xfrm>
            <a:custGeom>
              <a:avLst/>
              <a:gdLst/>
              <a:ahLst/>
              <a:cxnLst/>
              <a:rect r="r" b="b" t="t" l="l"/>
              <a:pathLst>
                <a:path h="58962" w="1764632">
                  <a:moveTo>
                    <a:pt x="0" y="0"/>
                  </a:moveTo>
                  <a:lnTo>
                    <a:pt x="1764632" y="0"/>
                  </a:lnTo>
                  <a:lnTo>
                    <a:pt x="1764632" y="58962"/>
                  </a:lnTo>
                  <a:lnTo>
                    <a:pt x="0" y="58962"/>
                  </a:lnTo>
                  <a:close/>
                </a:path>
              </a:pathLst>
            </a:custGeom>
            <a:solidFill>
              <a:srgbClr val="F9B314"/>
            </a:solidFill>
          </p:spPr>
        </p:sp>
        <p:sp>
          <p:nvSpPr>
            <p:cNvPr name="TextBox 6" id="6"/>
            <p:cNvSpPr txBox="true"/>
            <p:nvPr/>
          </p:nvSpPr>
          <p:spPr>
            <a:xfrm>
              <a:off x="0" y="-38100"/>
              <a:ext cx="1764632" cy="9706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0" y="3177588"/>
            <a:ext cx="8115300" cy="6961624"/>
            <a:chOff x="0" y="0"/>
            <a:chExt cx="10820400" cy="9282165"/>
          </a:xfrm>
        </p:grpSpPr>
        <p:sp>
          <p:nvSpPr>
            <p:cNvPr name="Freeform 8" id="8"/>
            <p:cNvSpPr/>
            <p:nvPr/>
          </p:nvSpPr>
          <p:spPr>
            <a:xfrm flipH="false" flipV="false" rot="0">
              <a:off x="334504" y="5784439"/>
              <a:ext cx="4932691" cy="3497726"/>
            </a:xfrm>
            <a:custGeom>
              <a:avLst/>
              <a:gdLst/>
              <a:ahLst/>
              <a:cxnLst/>
              <a:rect r="r" b="b" t="t" l="l"/>
              <a:pathLst>
                <a:path h="3497726" w="4932691">
                  <a:moveTo>
                    <a:pt x="0" y="0"/>
                  </a:moveTo>
                  <a:lnTo>
                    <a:pt x="4932691" y="0"/>
                  </a:lnTo>
                  <a:lnTo>
                    <a:pt x="4932691" y="3497726"/>
                  </a:lnTo>
                  <a:lnTo>
                    <a:pt x="0" y="349772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9" id="9"/>
            <p:cNvSpPr/>
            <p:nvPr/>
          </p:nvSpPr>
          <p:spPr>
            <a:xfrm flipH="false" flipV="false" rot="-1418234">
              <a:off x="403446" y="5421296"/>
              <a:ext cx="3639094" cy="1105375"/>
            </a:xfrm>
            <a:custGeom>
              <a:avLst/>
              <a:gdLst/>
              <a:ahLst/>
              <a:cxnLst/>
              <a:rect r="r" b="b" t="t" l="l"/>
              <a:pathLst>
                <a:path h="1105375" w="3639094">
                  <a:moveTo>
                    <a:pt x="0" y="0"/>
                  </a:moveTo>
                  <a:lnTo>
                    <a:pt x="3639093" y="0"/>
                  </a:lnTo>
                  <a:lnTo>
                    <a:pt x="3639093" y="1105375"/>
                  </a:lnTo>
                  <a:lnTo>
                    <a:pt x="0" y="1105375"/>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0" id="10"/>
            <p:cNvSpPr txBox="true"/>
            <p:nvPr/>
          </p:nvSpPr>
          <p:spPr>
            <a:xfrm rot="0">
              <a:off x="334504" y="104775"/>
              <a:ext cx="7896355" cy="740537"/>
            </a:xfrm>
            <a:prstGeom prst="rect">
              <a:avLst/>
            </a:prstGeom>
          </p:spPr>
          <p:txBody>
            <a:bodyPr anchor="t" rtlCol="false" tIns="0" lIns="0" bIns="0" rIns="0">
              <a:spAutoFit/>
            </a:bodyPr>
            <a:lstStyle/>
            <a:p>
              <a:pPr algn="l">
                <a:lnSpc>
                  <a:spcPts val="3947"/>
                </a:lnSpc>
              </a:pPr>
              <a:r>
                <a:rPr lang="en-US" sz="4200" b="true">
                  <a:solidFill>
                    <a:srgbClr val="F9B314"/>
                  </a:solidFill>
                  <a:latin typeface="Montserrat Ultra-Bold"/>
                  <a:ea typeface="Montserrat Ultra-Bold"/>
                  <a:cs typeface="Montserrat Ultra-Bold"/>
                  <a:sym typeface="Montserrat Ultra-Bold"/>
                </a:rPr>
                <a:t>Current Situation</a:t>
              </a:r>
            </a:p>
          </p:txBody>
        </p:sp>
        <p:sp>
          <p:nvSpPr>
            <p:cNvPr name="TextBox 11" id="11"/>
            <p:cNvSpPr txBox="true"/>
            <p:nvPr/>
          </p:nvSpPr>
          <p:spPr>
            <a:xfrm rot="0">
              <a:off x="0" y="1285040"/>
              <a:ext cx="10820400" cy="4750012"/>
            </a:xfrm>
            <a:prstGeom prst="rect">
              <a:avLst/>
            </a:prstGeom>
          </p:spPr>
          <p:txBody>
            <a:bodyPr anchor="t" rtlCol="false" tIns="0" lIns="0" bIns="0" rIns="0">
              <a:spAutoFit/>
            </a:bodyPr>
            <a:lstStyle/>
            <a:p>
              <a:pPr algn="l" marL="626111" indent="-313055" lvl="1">
                <a:lnSpc>
                  <a:spcPts val="4060"/>
                </a:lnSpc>
                <a:buFont typeface="Arial"/>
                <a:buChar char="•"/>
              </a:pPr>
              <a:r>
                <a:rPr lang="en-US" b="true" sz="2900">
                  <a:solidFill>
                    <a:srgbClr val="2D262A"/>
                  </a:solidFill>
                  <a:latin typeface="Montserrat Medium"/>
                  <a:ea typeface="Montserrat Medium"/>
                  <a:cs typeface="Montserrat Medium"/>
                  <a:sym typeface="Montserrat Medium"/>
                </a:rPr>
                <a:t>Rise in online job scams targeting job seekers.</a:t>
              </a:r>
            </a:p>
            <a:p>
              <a:pPr algn="l" marL="626111" indent="-313055" lvl="1">
                <a:lnSpc>
                  <a:spcPts val="4060"/>
                </a:lnSpc>
                <a:buFont typeface="Arial"/>
                <a:buChar char="•"/>
              </a:pPr>
              <a:r>
                <a:rPr lang="en-US" b="true" sz="2900">
                  <a:solidFill>
                    <a:srgbClr val="2D262A"/>
                  </a:solidFill>
                  <a:latin typeface="Montserrat Medium"/>
                  <a:ea typeface="Montserrat Medium"/>
                  <a:cs typeface="Montserrat Medium"/>
                  <a:sym typeface="Montserrat Medium"/>
                </a:rPr>
                <a:t>Victims suffer financial losses and identity theft. </a:t>
              </a:r>
            </a:p>
            <a:p>
              <a:pPr algn="l" marL="626111" indent="-313055" lvl="1">
                <a:lnSpc>
                  <a:spcPts val="4060"/>
                </a:lnSpc>
                <a:buFont typeface="Arial"/>
                <a:buChar char="•"/>
              </a:pPr>
              <a:r>
                <a:rPr lang="en-US" b="true" sz="2900">
                  <a:solidFill>
                    <a:srgbClr val="2D262A"/>
                  </a:solidFill>
                  <a:latin typeface="Montserrat Medium"/>
                  <a:ea typeface="Montserrat Medium"/>
                  <a:cs typeface="Montserrat Medium"/>
                  <a:sym typeface="Montserrat Medium"/>
                </a:rPr>
                <a:t>Need AI Tool to detect the Job Scam</a:t>
              </a:r>
            </a:p>
            <a:p>
              <a:pPr algn="l">
                <a:lnSpc>
                  <a:spcPts val="4060"/>
                </a:lnSpc>
              </a:pPr>
            </a:p>
            <a:p>
              <a:pPr algn="l">
                <a:lnSpc>
                  <a:spcPts val="4060"/>
                </a:lnSpc>
              </a:pPr>
            </a:p>
          </p:txBody>
        </p:sp>
      </p:grpSp>
      <p:sp>
        <p:nvSpPr>
          <p:cNvPr name="TextBox 12" id="12"/>
          <p:cNvSpPr txBox="true"/>
          <p:nvPr/>
        </p:nvSpPr>
        <p:spPr>
          <a:xfrm rot="0">
            <a:off x="-1499424" y="540519"/>
            <a:ext cx="8110300"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PROJECT GOAL </a:t>
            </a:r>
          </a:p>
        </p:txBody>
      </p:sp>
      <p:grpSp>
        <p:nvGrpSpPr>
          <p:cNvPr name="Group 13" id="13"/>
          <p:cNvGrpSpPr/>
          <p:nvPr/>
        </p:nvGrpSpPr>
        <p:grpSpPr>
          <a:xfrm rot="0">
            <a:off x="8366919" y="3177588"/>
            <a:ext cx="9625703" cy="6107693"/>
            <a:chOff x="0" y="0"/>
            <a:chExt cx="12834270" cy="8143590"/>
          </a:xfrm>
        </p:grpSpPr>
        <p:sp>
          <p:nvSpPr>
            <p:cNvPr name="TextBox 14" id="14"/>
            <p:cNvSpPr txBox="true"/>
            <p:nvPr/>
          </p:nvSpPr>
          <p:spPr>
            <a:xfrm rot="0">
              <a:off x="408250" y="104775"/>
              <a:ext cx="7896355" cy="740537"/>
            </a:xfrm>
            <a:prstGeom prst="rect">
              <a:avLst/>
            </a:prstGeom>
          </p:spPr>
          <p:txBody>
            <a:bodyPr anchor="t" rtlCol="false" tIns="0" lIns="0" bIns="0" rIns="0">
              <a:spAutoFit/>
            </a:bodyPr>
            <a:lstStyle/>
            <a:p>
              <a:pPr algn="l">
                <a:lnSpc>
                  <a:spcPts val="3947"/>
                </a:lnSpc>
              </a:pPr>
              <a:r>
                <a:rPr lang="en-US" sz="4200" b="true">
                  <a:solidFill>
                    <a:srgbClr val="F9B314"/>
                  </a:solidFill>
                  <a:latin typeface="Montserrat Ultra-Bold"/>
                  <a:ea typeface="Montserrat Ultra-Bold"/>
                  <a:cs typeface="Montserrat Ultra-Bold"/>
                  <a:sym typeface="Montserrat Ultra-Bold"/>
                </a:rPr>
                <a:t>Our Project Goal</a:t>
              </a:r>
            </a:p>
          </p:txBody>
        </p:sp>
        <p:sp>
          <p:nvSpPr>
            <p:cNvPr name="TextBox 15" id="15"/>
            <p:cNvSpPr txBox="true"/>
            <p:nvPr/>
          </p:nvSpPr>
          <p:spPr>
            <a:xfrm rot="0">
              <a:off x="0" y="1323140"/>
              <a:ext cx="12834270" cy="6820450"/>
            </a:xfrm>
            <a:prstGeom prst="rect">
              <a:avLst/>
            </a:prstGeom>
          </p:spPr>
          <p:txBody>
            <a:bodyPr anchor="t" rtlCol="false" tIns="0" lIns="0" bIns="0" rIns="0">
              <a:spAutoFit/>
            </a:bodyPr>
            <a:lstStyle/>
            <a:p>
              <a:pPr algn="l" marL="626107" indent="-313054" lvl="1">
                <a:lnSpc>
                  <a:spcPts val="3682"/>
                </a:lnSpc>
                <a:buFont typeface="Arial"/>
                <a:buChar char="•"/>
              </a:pPr>
              <a:r>
                <a:rPr lang="en-US" b="true" sz="2899">
                  <a:solidFill>
                    <a:srgbClr val="2D262A"/>
                  </a:solidFill>
                  <a:latin typeface="Montserrat Bold"/>
                  <a:ea typeface="Montserrat Bold"/>
                  <a:cs typeface="Montserrat Bold"/>
                  <a:sym typeface="Montserrat Bold"/>
                </a:rPr>
                <a:t>Build a Streamlit web app to classify job postings as:</a:t>
              </a:r>
            </a:p>
            <a:p>
              <a:pPr algn="l" marL="1252215" indent="-417405" lvl="2">
                <a:lnSpc>
                  <a:spcPts val="3682"/>
                </a:lnSpc>
                <a:buFont typeface="Arial"/>
                <a:buChar char="⚬"/>
              </a:pPr>
              <a:r>
                <a:rPr lang="en-US" b="true" sz="2899">
                  <a:solidFill>
                    <a:srgbClr val="2D262A"/>
                  </a:solidFill>
                  <a:latin typeface="Montserrat Medium"/>
                  <a:ea typeface="Montserrat Medium"/>
                  <a:cs typeface="Montserrat Medium"/>
                  <a:sym typeface="Montserrat Medium"/>
                </a:rPr>
                <a:t>Fraudulent or Legitimate</a:t>
              </a:r>
            </a:p>
            <a:p>
              <a:pPr algn="l" marL="1252215" indent="-417405" lvl="2">
                <a:lnSpc>
                  <a:spcPts val="3682"/>
                </a:lnSpc>
                <a:buFont typeface="Arial"/>
                <a:buChar char="⚬"/>
              </a:pPr>
              <a:r>
                <a:rPr lang="en-US" b="true" sz="2899">
                  <a:solidFill>
                    <a:srgbClr val="2D262A"/>
                  </a:solidFill>
                  <a:latin typeface="Montserrat Medium"/>
                  <a:ea typeface="Montserrat Medium"/>
                  <a:cs typeface="Montserrat Medium"/>
                  <a:sym typeface="Montserrat Medium"/>
                </a:rPr>
                <a:t>Provide a scam severity score for the prediction.</a:t>
              </a:r>
            </a:p>
            <a:p>
              <a:pPr algn="l">
                <a:lnSpc>
                  <a:spcPts val="3682"/>
                </a:lnSpc>
              </a:pPr>
            </a:p>
            <a:p>
              <a:pPr algn="l" marL="626107" indent="-313054" lvl="1">
                <a:lnSpc>
                  <a:spcPts val="3682"/>
                </a:lnSpc>
                <a:buFont typeface="Arial"/>
                <a:buChar char="•"/>
              </a:pPr>
              <a:r>
                <a:rPr lang="en-US" b="true" sz="2899">
                  <a:solidFill>
                    <a:srgbClr val="2D262A"/>
                  </a:solidFill>
                  <a:latin typeface="Montserrat Bold"/>
                  <a:ea typeface="Montserrat Bold"/>
                  <a:cs typeface="Montserrat Bold"/>
                  <a:sym typeface="Montserrat Bold"/>
                </a:rPr>
                <a:t>Integrate LIME to explain:</a:t>
              </a:r>
            </a:p>
            <a:p>
              <a:pPr algn="l" marL="1252215" indent="-417405" lvl="2">
                <a:lnSpc>
                  <a:spcPts val="3682"/>
                </a:lnSpc>
                <a:buFont typeface="Arial"/>
                <a:buChar char="⚬"/>
              </a:pPr>
              <a:r>
                <a:rPr lang="en-US" b="true" sz="2899">
                  <a:solidFill>
                    <a:srgbClr val="2D262A"/>
                  </a:solidFill>
                  <a:latin typeface="Montserrat Medium"/>
                  <a:ea typeface="Montserrat Medium"/>
                  <a:cs typeface="Montserrat Medium"/>
                  <a:sym typeface="Montserrat Medium"/>
                </a:rPr>
                <a:t>Which features influenced the prediction?</a:t>
              </a:r>
            </a:p>
            <a:p>
              <a:pPr algn="l" marL="1252215" indent="-417405" lvl="2">
                <a:lnSpc>
                  <a:spcPts val="3682"/>
                </a:lnSpc>
                <a:buFont typeface="Arial"/>
                <a:buChar char="⚬"/>
              </a:pPr>
              <a:r>
                <a:rPr lang="en-US" b="true" sz="2899">
                  <a:solidFill>
                    <a:srgbClr val="2D262A"/>
                  </a:solidFill>
                  <a:latin typeface="Montserrat Medium"/>
                  <a:ea typeface="Montserrat Medium"/>
                  <a:cs typeface="Montserrat Medium"/>
                  <a:sym typeface="Montserrat Medium"/>
                </a:rPr>
                <a:t>Help users trust and understand the model’s decisions.</a:t>
              </a:r>
            </a:p>
            <a:p>
              <a:pPr algn="l">
                <a:lnSpc>
                  <a:spcPts val="3682"/>
                </a:lnSpc>
              </a:pPr>
            </a:p>
          </p:txBody>
        </p:sp>
      </p:grpSp>
      <p:sp>
        <p:nvSpPr>
          <p:cNvPr name="TextBox 16" id="16"/>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2</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2121670"/>
            <a:ext cx="6700088" cy="223872"/>
            <a:chOff x="0" y="0"/>
            <a:chExt cx="1764632" cy="58962"/>
          </a:xfrm>
        </p:grpSpPr>
        <p:sp>
          <p:nvSpPr>
            <p:cNvPr name="Freeform 4" id="4"/>
            <p:cNvSpPr/>
            <p:nvPr/>
          </p:nvSpPr>
          <p:spPr>
            <a:xfrm flipH="false" flipV="false" rot="0">
              <a:off x="0" y="0"/>
              <a:ext cx="1764632" cy="58962"/>
            </a:xfrm>
            <a:custGeom>
              <a:avLst/>
              <a:gdLst/>
              <a:ahLst/>
              <a:cxnLst/>
              <a:rect r="r" b="b" t="t" l="l"/>
              <a:pathLst>
                <a:path h="58962" w="1764632">
                  <a:moveTo>
                    <a:pt x="0" y="0"/>
                  </a:moveTo>
                  <a:lnTo>
                    <a:pt x="1764632" y="0"/>
                  </a:lnTo>
                  <a:lnTo>
                    <a:pt x="1764632" y="58962"/>
                  </a:lnTo>
                  <a:lnTo>
                    <a:pt x="0" y="58962"/>
                  </a:lnTo>
                  <a:close/>
                </a:path>
              </a:pathLst>
            </a:custGeom>
            <a:solidFill>
              <a:srgbClr val="F9B314"/>
            </a:solidFill>
          </p:spPr>
        </p:sp>
        <p:sp>
          <p:nvSpPr>
            <p:cNvPr name="TextBox 5" id="5"/>
            <p:cNvSpPr txBox="true"/>
            <p:nvPr/>
          </p:nvSpPr>
          <p:spPr>
            <a:xfrm>
              <a:off x="0" y="-38100"/>
              <a:ext cx="1764632" cy="97062"/>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57064" y="2717129"/>
            <a:ext cx="12318250" cy="1848806"/>
            <a:chOff x="0" y="0"/>
            <a:chExt cx="16424333" cy="2465075"/>
          </a:xfrm>
        </p:grpSpPr>
        <p:sp>
          <p:nvSpPr>
            <p:cNvPr name="TextBox 7" id="7"/>
            <p:cNvSpPr txBox="true"/>
            <p:nvPr/>
          </p:nvSpPr>
          <p:spPr>
            <a:xfrm rot="0">
              <a:off x="1038789" y="-9525"/>
              <a:ext cx="15385544" cy="1219750"/>
            </a:xfrm>
            <a:prstGeom prst="rect">
              <a:avLst/>
            </a:prstGeom>
          </p:spPr>
          <p:txBody>
            <a:bodyPr anchor="t" rtlCol="false" tIns="0" lIns="0" bIns="0" rIns="0">
              <a:spAutoFit/>
            </a:bodyPr>
            <a:lstStyle/>
            <a:p>
              <a:pPr algn="l">
                <a:lnSpc>
                  <a:spcPts val="3683"/>
                </a:lnSpc>
              </a:pPr>
              <a:r>
                <a:rPr lang="en-US" sz="2900" b="true">
                  <a:solidFill>
                    <a:srgbClr val="2D262A"/>
                  </a:solidFill>
                  <a:latin typeface="Montserrat Bold"/>
                  <a:ea typeface="Montserrat Bold"/>
                  <a:cs typeface="Montserrat Bold"/>
                  <a:sym typeface="Montserrat Bold"/>
                </a:rPr>
                <a:t>ML pipeline</a:t>
              </a:r>
              <a:r>
                <a:rPr lang="en-US" sz="2900" b="true">
                  <a:solidFill>
                    <a:srgbClr val="2D262A"/>
                  </a:solidFill>
                  <a:latin typeface="Montserrat Medium"/>
                  <a:ea typeface="Montserrat Medium"/>
                  <a:cs typeface="Montserrat Medium"/>
                  <a:sym typeface="Montserrat Medium"/>
                </a:rPr>
                <a:t> for detecting fake job posts (text + structured data)</a:t>
              </a:r>
            </a:p>
          </p:txBody>
        </p:sp>
        <p:sp>
          <p:nvSpPr>
            <p:cNvPr name="Freeform 8" id="8"/>
            <p:cNvSpPr/>
            <p:nvPr/>
          </p:nvSpPr>
          <p:spPr>
            <a:xfrm flipH="false" flipV="false" rot="0">
              <a:off x="0" y="145425"/>
              <a:ext cx="919376" cy="919376"/>
            </a:xfrm>
            <a:custGeom>
              <a:avLst/>
              <a:gdLst/>
              <a:ahLst/>
              <a:cxnLst/>
              <a:rect r="r" b="b" t="t" l="l"/>
              <a:pathLst>
                <a:path h="919376" w="919376">
                  <a:moveTo>
                    <a:pt x="0" y="0"/>
                  </a:moveTo>
                  <a:lnTo>
                    <a:pt x="919376" y="0"/>
                  </a:lnTo>
                  <a:lnTo>
                    <a:pt x="919376" y="919376"/>
                  </a:lnTo>
                  <a:lnTo>
                    <a:pt x="0" y="919376"/>
                  </a:lnTo>
                  <a:lnTo>
                    <a:pt x="0" y="0"/>
                  </a:lnTo>
                  <a:close/>
                </a:path>
              </a:pathLst>
            </a:custGeom>
            <a:blipFill>
              <a:blip r:embed="rId5"/>
              <a:stretch>
                <a:fillRect l="0" t="0" r="0" b="0"/>
              </a:stretch>
            </a:blipFill>
          </p:spPr>
        </p:sp>
        <p:sp>
          <p:nvSpPr>
            <p:cNvPr name="Freeform 9" id="9"/>
            <p:cNvSpPr/>
            <p:nvPr/>
          </p:nvSpPr>
          <p:spPr>
            <a:xfrm flipH="false" flipV="false" rot="0">
              <a:off x="0" y="1705525"/>
              <a:ext cx="851492" cy="759549"/>
            </a:xfrm>
            <a:custGeom>
              <a:avLst/>
              <a:gdLst/>
              <a:ahLst/>
              <a:cxnLst/>
              <a:rect r="r" b="b" t="t" l="l"/>
              <a:pathLst>
                <a:path h="759549" w="851492">
                  <a:moveTo>
                    <a:pt x="0" y="0"/>
                  </a:moveTo>
                  <a:lnTo>
                    <a:pt x="851492" y="0"/>
                  </a:lnTo>
                  <a:lnTo>
                    <a:pt x="851492" y="759550"/>
                  </a:lnTo>
                  <a:lnTo>
                    <a:pt x="0" y="759550"/>
                  </a:lnTo>
                  <a:lnTo>
                    <a:pt x="0" y="0"/>
                  </a:lnTo>
                  <a:close/>
                </a:path>
              </a:pathLst>
            </a:custGeom>
            <a:blipFill>
              <a:blip r:embed="rId6"/>
              <a:stretch>
                <a:fillRect l="0" t="-17080" r="0" b="0"/>
              </a:stretch>
            </a:blipFill>
          </p:spPr>
        </p:sp>
        <p:sp>
          <p:nvSpPr>
            <p:cNvPr name="TextBox 10" id="10"/>
            <p:cNvSpPr txBox="true"/>
            <p:nvPr/>
          </p:nvSpPr>
          <p:spPr>
            <a:xfrm rot="0">
              <a:off x="995668" y="1763387"/>
              <a:ext cx="15385544" cy="597450"/>
            </a:xfrm>
            <a:prstGeom prst="rect">
              <a:avLst/>
            </a:prstGeom>
          </p:spPr>
          <p:txBody>
            <a:bodyPr anchor="t" rtlCol="false" tIns="0" lIns="0" bIns="0" rIns="0">
              <a:spAutoFit/>
            </a:bodyPr>
            <a:lstStyle/>
            <a:p>
              <a:pPr algn="l">
                <a:lnSpc>
                  <a:spcPts val="3683"/>
                </a:lnSpc>
              </a:pPr>
              <a:r>
                <a:rPr lang="en-US" sz="2900" b="true">
                  <a:solidFill>
                    <a:srgbClr val="2D262A"/>
                  </a:solidFill>
                  <a:latin typeface="Montserrat Bold"/>
                  <a:ea typeface="Montserrat Bold"/>
                  <a:cs typeface="Montserrat Bold"/>
                  <a:sym typeface="Montserrat Bold"/>
                </a:rPr>
                <a:t>Preprocessing</a:t>
              </a:r>
              <a:r>
                <a:rPr lang="en-US" sz="2900" b="true">
                  <a:solidFill>
                    <a:srgbClr val="2D262A"/>
                  </a:solidFill>
                  <a:latin typeface="Montserrat Medium"/>
                  <a:ea typeface="Montserrat Medium"/>
                  <a:cs typeface="Montserrat Medium"/>
                  <a:sym typeface="Montserrat Medium"/>
                </a:rPr>
                <a:t>: lemmatization, gibberish removal, TF-IDF</a:t>
              </a:r>
            </a:p>
          </p:txBody>
        </p:sp>
      </p:grpSp>
      <p:grpSp>
        <p:nvGrpSpPr>
          <p:cNvPr name="Group 11" id="11"/>
          <p:cNvGrpSpPr/>
          <p:nvPr/>
        </p:nvGrpSpPr>
        <p:grpSpPr>
          <a:xfrm rot="0">
            <a:off x="-87768" y="4874009"/>
            <a:ext cx="12414861" cy="1485219"/>
            <a:chOff x="0" y="0"/>
            <a:chExt cx="16553147" cy="1980292"/>
          </a:xfrm>
        </p:grpSpPr>
        <p:sp>
          <p:nvSpPr>
            <p:cNvPr name="Freeform 12" id="12"/>
            <p:cNvSpPr/>
            <p:nvPr/>
          </p:nvSpPr>
          <p:spPr>
            <a:xfrm flipH="false" flipV="false" rot="0">
              <a:off x="117024" y="59794"/>
              <a:ext cx="750243" cy="658850"/>
            </a:xfrm>
            <a:custGeom>
              <a:avLst/>
              <a:gdLst/>
              <a:ahLst/>
              <a:cxnLst/>
              <a:rect r="r" b="b" t="t" l="l"/>
              <a:pathLst>
                <a:path h="658850" w="750243">
                  <a:moveTo>
                    <a:pt x="0" y="0"/>
                  </a:moveTo>
                  <a:lnTo>
                    <a:pt x="750243" y="0"/>
                  </a:lnTo>
                  <a:lnTo>
                    <a:pt x="750243" y="658850"/>
                  </a:lnTo>
                  <a:lnTo>
                    <a:pt x="0" y="65885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TextBox 13" id="13"/>
            <p:cNvSpPr txBox="true"/>
            <p:nvPr/>
          </p:nvSpPr>
          <p:spPr>
            <a:xfrm rot="0">
              <a:off x="1167603" y="-9525"/>
              <a:ext cx="15385544" cy="1219750"/>
            </a:xfrm>
            <a:prstGeom prst="rect">
              <a:avLst/>
            </a:prstGeom>
          </p:spPr>
          <p:txBody>
            <a:bodyPr anchor="t" rtlCol="false" tIns="0" lIns="0" bIns="0" rIns="0">
              <a:spAutoFit/>
            </a:bodyPr>
            <a:lstStyle/>
            <a:p>
              <a:pPr algn="l">
                <a:lnSpc>
                  <a:spcPts val="3683"/>
                </a:lnSpc>
              </a:pPr>
              <a:r>
                <a:rPr lang="en-US" sz="2900" b="true">
                  <a:solidFill>
                    <a:srgbClr val="2D262A"/>
                  </a:solidFill>
                  <a:latin typeface="Montserrat Bold"/>
                  <a:ea typeface="Montserrat Bold"/>
                  <a:cs typeface="Montserrat Bold"/>
                  <a:sym typeface="Montserrat Bold"/>
                </a:rPr>
                <a:t>Models</a:t>
              </a:r>
              <a:r>
                <a:rPr lang="en-US" sz="2900" b="true">
                  <a:solidFill>
                    <a:srgbClr val="2D262A"/>
                  </a:solidFill>
                  <a:latin typeface="Montserrat Medium"/>
                  <a:ea typeface="Montserrat Medium"/>
                  <a:cs typeface="Montserrat Medium"/>
                  <a:sym typeface="Montserrat Medium"/>
                </a:rPr>
                <a:t>: LR, RF, NB, XGBoost, DistilBERT</a:t>
              </a:r>
            </a:p>
            <a:p>
              <a:pPr algn="l">
                <a:lnSpc>
                  <a:spcPts val="3683"/>
                </a:lnSpc>
              </a:pPr>
            </a:p>
          </p:txBody>
        </p:sp>
        <p:sp>
          <p:nvSpPr>
            <p:cNvPr name="Freeform 14" id="14"/>
            <p:cNvSpPr/>
            <p:nvPr/>
          </p:nvSpPr>
          <p:spPr>
            <a:xfrm flipH="false" flipV="false" rot="0">
              <a:off x="0" y="1238721"/>
              <a:ext cx="899783" cy="741571"/>
            </a:xfrm>
            <a:custGeom>
              <a:avLst/>
              <a:gdLst/>
              <a:ahLst/>
              <a:cxnLst/>
              <a:rect r="r" b="b" t="t" l="l"/>
              <a:pathLst>
                <a:path h="741571" w="899783">
                  <a:moveTo>
                    <a:pt x="0" y="0"/>
                  </a:moveTo>
                  <a:lnTo>
                    <a:pt x="899783" y="0"/>
                  </a:lnTo>
                  <a:lnTo>
                    <a:pt x="899783" y="741571"/>
                  </a:lnTo>
                  <a:lnTo>
                    <a:pt x="0" y="741571"/>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5" id="15"/>
            <p:cNvSpPr txBox="true"/>
            <p:nvPr/>
          </p:nvSpPr>
          <p:spPr>
            <a:xfrm rot="0">
              <a:off x="1167603" y="1204419"/>
              <a:ext cx="15385544" cy="597450"/>
            </a:xfrm>
            <a:prstGeom prst="rect">
              <a:avLst/>
            </a:prstGeom>
          </p:spPr>
          <p:txBody>
            <a:bodyPr anchor="t" rtlCol="false" tIns="0" lIns="0" bIns="0" rIns="0">
              <a:spAutoFit/>
            </a:bodyPr>
            <a:lstStyle/>
            <a:p>
              <a:pPr algn="l">
                <a:lnSpc>
                  <a:spcPts val="3683"/>
                </a:lnSpc>
              </a:pPr>
              <a:r>
                <a:rPr lang="en-US" sz="2900" b="true">
                  <a:solidFill>
                    <a:srgbClr val="2D262A"/>
                  </a:solidFill>
                  <a:latin typeface="Montserrat Bold"/>
                  <a:ea typeface="Montserrat Bold"/>
                  <a:cs typeface="Montserrat Bold"/>
                  <a:sym typeface="Montserrat Bold"/>
                </a:rPr>
                <a:t>Feature selection</a:t>
              </a:r>
              <a:r>
                <a:rPr lang="en-US" sz="2900" b="true">
                  <a:solidFill>
                    <a:srgbClr val="2D262A"/>
                  </a:solidFill>
                  <a:latin typeface="Montserrat Medium"/>
                  <a:ea typeface="Montserrat Medium"/>
                  <a:cs typeface="Montserrat Medium"/>
                  <a:sym typeface="Montserrat Medium"/>
                </a:rPr>
                <a:t>: MI, Chi-Square, SelectKBest</a:t>
              </a:r>
            </a:p>
          </p:txBody>
        </p:sp>
      </p:grpSp>
      <p:grpSp>
        <p:nvGrpSpPr>
          <p:cNvPr name="Group 16" id="16"/>
          <p:cNvGrpSpPr/>
          <p:nvPr/>
        </p:nvGrpSpPr>
        <p:grpSpPr>
          <a:xfrm rot="0">
            <a:off x="0" y="6683078"/>
            <a:ext cx="12505244" cy="1586404"/>
            <a:chOff x="0" y="0"/>
            <a:chExt cx="16673659" cy="2115205"/>
          </a:xfrm>
        </p:grpSpPr>
        <p:sp>
          <p:nvSpPr>
            <p:cNvPr name="TextBox 17" id="17"/>
            <p:cNvSpPr txBox="true"/>
            <p:nvPr/>
          </p:nvSpPr>
          <p:spPr>
            <a:xfrm rot="0">
              <a:off x="1049288" y="-9525"/>
              <a:ext cx="15385544" cy="597450"/>
            </a:xfrm>
            <a:prstGeom prst="rect">
              <a:avLst/>
            </a:prstGeom>
          </p:spPr>
          <p:txBody>
            <a:bodyPr anchor="t" rtlCol="false" tIns="0" lIns="0" bIns="0" rIns="0">
              <a:spAutoFit/>
            </a:bodyPr>
            <a:lstStyle/>
            <a:p>
              <a:pPr algn="l">
                <a:lnSpc>
                  <a:spcPts val="3683"/>
                </a:lnSpc>
              </a:pPr>
              <a:r>
                <a:rPr lang="en-US" sz="2900" b="true">
                  <a:solidFill>
                    <a:srgbClr val="2D262A"/>
                  </a:solidFill>
                  <a:latin typeface="Montserrat Medium"/>
                  <a:ea typeface="Montserrat Medium"/>
                  <a:cs typeface="Montserrat Medium"/>
                  <a:sym typeface="Montserrat Medium"/>
                </a:rPr>
                <a:t> </a:t>
              </a:r>
              <a:r>
                <a:rPr lang="en-US" sz="2900" b="true">
                  <a:solidFill>
                    <a:srgbClr val="2D262A"/>
                  </a:solidFill>
                  <a:latin typeface="Montserrat Bold"/>
                  <a:ea typeface="Montserrat Bold"/>
                  <a:cs typeface="Montserrat Bold"/>
                  <a:sym typeface="Montserrat Bold"/>
                </a:rPr>
                <a:t>LIME</a:t>
              </a:r>
              <a:r>
                <a:rPr lang="en-US" sz="2900" b="true">
                  <a:solidFill>
                    <a:srgbClr val="2D262A"/>
                  </a:solidFill>
                  <a:latin typeface="Montserrat Medium"/>
                  <a:ea typeface="Montserrat Medium"/>
                  <a:cs typeface="Montserrat Medium"/>
                  <a:sym typeface="Montserrat Medium"/>
                </a:rPr>
                <a:t>: explains key features behind prediction</a:t>
              </a:r>
            </a:p>
          </p:txBody>
        </p:sp>
        <p:sp>
          <p:nvSpPr>
            <p:cNvPr name="Freeform 18" id="18"/>
            <p:cNvSpPr/>
            <p:nvPr/>
          </p:nvSpPr>
          <p:spPr>
            <a:xfrm flipH="false" flipV="false" rot="0">
              <a:off x="0" y="0"/>
              <a:ext cx="871166" cy="652897"/>
            </a:xfrm>
            <a:custGeom>
              <a:avLst/>
              <a:gdLst/>
              <a:ahLst/>
              <a:cxnLst/>
              <a:rect r="r" b="b" t="t" l="l"/>
              <a:pathLst>
                <a:path h="652897" w="871166">
                  <a:moveTo>
                    <a:pt x="0" y="0"/>
                  </a:moveTo>
                  <a:lnTo>
                    <a:pt x="871166" y="0"/>
                  </a:lnTo>
                  <a:lnTo>
                    <a:pt x="871166" y="652897"/>
                  </a:lnTo>
                  <a:lnTo>
                    <a:pt x="0" y="652897"/>
                  </a:lnTo>
                  <a:lnTo>
                    <a:pt x="0" y="0"/>
                  </a:lnTo>
                  <a:close/>
                </a:path>
              </a:pathLst>
            </a:custGeom>
            <a:blipFill>
              <a:blip r:embed="rId11"/>
              <a:stretch>
                <a:fillRect l="0" t="0" r="-1966" b="0"/>
              </a:stretch>
            </a:blipFill>
          </p:spPr>
        </p:sp>
        <p:sp>
          <p:nvSpPr>
            <p:cNvPr name="Freeform 19" id="19"/>
            <p:cNvSpPr/>
            <p:nvPr/>
          </p:nvSpPr>
          <p:spPr>
            <a:xfrm flipH="false" flipV="false" rot="0">
              <a:off x="36850" y="1280889"/>
              <a:ext cx="834316" cy="834316"/>
            </a:xfrm>
            <a:custGeom>
              <a:avLst/>
              <a:gdLst/>
              <a:ahLst/>
              <a:cxnLst/>
              <a:rect r="r" b="b" t="t" l="l"/>
              <a:pathLst>
                <a:path h="834316" w="834316">
                  <a:moveTo>
                    <a:pt x="0" y="0"/>
                  </a:moveTo>
                  <a:lnTo>
                    <a:pt x="834316" y="0"/>
                  </a:lnTo>
                  <a:lnTo>
                    <a:pt x="834316" y="834316"/>
                  </a:lnTo>
                  <a:lnTo>
                    <a:pt x="0" y="834316"/>
                  </a:lnTo>
                  <a:lnTo>
                    <a:pt x="0" y="0"/>
                  </a:lnTo>
                  <a:close/>
                </a:path>
              </a:pathLst>
            </a:custGeom>
            <a:blipFill>
              <a:blip r:embed="rId12"/>
              <a:stretch>
                <a:fillRect l="0" t="0" r="0" b="0"/>
              </a:stretch>
            </a:blipFill>
          </p:spPr>
        </p:sp>
        <p:sp>
          <p:nvSpPr>
            <p:cNvPr name="TextBox 20" id="20"/>
            <p:cNvSpPr txBox="true"/>
            <p:nvPr/>
          </p:nvSpPr>
          <p:spPr>
            <a:xfrm rot="0">
              <a:off x="1049288" y="1359678"/>
              <a:ext cx="15624371" cy="597435"/>
            </a:xfrm>
            <a:prstGeom prst="rect">
              <a:avLst/>
            </a:prstGeom>
          </p:spPr>
          <p:txBody>
            <a:bodyPr anchor="t" rtlCol="false" tIns="0" lIns="0" bIns="0" rIns="0">
              <a:spAutoFit/>
            </a:bodyPr>
            <a:lstStyle/>
            <a:p>
              <a:pPr algn="l">
                <a:lnSpc>
                  <a:spcPts val="3684"/>
                </a:lnSpc>
              </a:pPr>
              <a:r>
                <a:rPr lang="en-US" sz="2901" b="true">
                  <a:solidFill>
                    <a:srgbClr val="2D262A"/>
                  </a:solidFill>
                  <a:latin typeface="Montserrat Bold"/>
                  <a:ea typeface="Montserrat Bold"/>
                  <a:cs typeface="Montserrat Bold"/>
                  <a:sym typeface="Montserrat Bold"/>
                </a:rPr>
                <a:t>Streamlit app</a:t>
              </a:r>
              <a:r>
                <a:rPr lang="en-US" sz="2901" b="true">
                  <a:solidFill>
                    <a:srgbClr val="2D262A"/>
                  </a:solidFill>
                  <a:latin typeface="Montserrat Medium"/>
                  <a:ea typeface="Montserrat Medium"/>
                  <a:cs typeface="Montserrat Medium"/>
                  <a:sym typeface="Montserrat Medium"/>
                </a:rPr>
                <a:t>: predicts and shows probability</a:t>
              </a:r>
            </a:p>
          </p:txBody>
        </p:sp>
      </p:grpSp>
      <p:grpSp>
        <p:nvGrpSpPr>
          <p:cNvPr name="Group 21" id="21"/>
          <p:cNvGrpSpPr/>
          <p:nvPr/>
        </p:nvGrpSpPr>
        <p:grpSpPr>
          <a:xfrm rot="0">
            <a:off x="11640381" y="1506380"/>
            <a:ext cx="6481612" cy="7274239"/>
            <a:chOff x="0" y="0"/>
            <a:chExt cx="8642149" cy="9698986"/>
          </a:xfrm>
        </p:grpSpPr>
        <p:grpSp>
          <p:nvGrpSpPr>
            <p:cNvPr name="Group 22" id="22"/>
            <p:cNvGrpSpPr/>
            <p:nvPr/>
          </p:nvGrpSpPr>
          <p:grpSpPr>
            <a:xfrm rot="0">
              <a:off x="819718" y="0"/>
              <a:ext cx="7002713" cy="1332559"/>
              <a:chOff x="0" y="0"/>
              <a:chExt cx="1340816" cy="255146"/>
            </a:xfrm>
          </p:grpSpPr>
          <p:sp>
            <p:nvSpPr>
              <p:cNvPr name="Freeform 23" id="23"/>
              <p:cNvSpPr/>
              <p:nvPr/>
            </p:nvSpPr>
            <p:spPr>
              <a:xfrm flipH="false" flipV="false" rot="0">
                <a:off x="0" y="0"/>
                <a:ext cx="1340816" cy="255146"/>
              </a:xfrm>
              <a:custGeom>
                <a:avLst/>
                <a:gdLst/>
                <a:ahLst/>
                <a:cxnLst/>
                <a:rect r="r" b="b" t="t" l="l"/>
                <a:pathLst>
                  <a:path h="255146" w="1340816">
                    <a:moveTo>
                      <a:pt x="77557" y="0"/>
                    </a:moveTo>
                    <a:lnTo>
                      <a:pt x="1263258" y="0"/>
                    </a:lnTo>
                    <a:cubicBezTo>
                      <a:pt x="1283828" y="0"/>
                      <a:pt x="1303555" y="8171"/>
                      <a:pt x="1318099" y="22716"/>
                    </a:cubicBezTo>
                    <a:cubicBezTo>
                      <a:pt x="1332644" y="37261"/>
                      <a:pt x="1340816" y="56988"/>
                      <a:pt x="1340816" y="77557"/>
                    </a:cubicBezTo>
                    <a:lnTo>
                      <a:pt x="1340816" y="177589"/>
                    </a:lnTo>
                    <a:cubicBezTo>
                      <a:pt x="1340816" y="220423"/>
                      <a:pt x="1306092" y="255146"/>
                      <a:pt x="1263258" y="255146"/>
                    </a:cubicBezTo>
                    <a:lnTo>
                      <a:pt x="77557" y="255146"/>
                    </a:lnTo>
                    <a:cubicBezTo>
                      <a:pt x="56988" y="255146"/>
                      <a:pt x="37261" y="246975"/>
                      <a:pt x="22716" y="232430"/>
                    </a:cubicBezTo>
                    <a:cubicBezTo>
                      <a:pt x="8171" y="217885"/>
                      <a:pt x="0" y="198158"/>
                      <a:pt x="0" y="177589"/>
                    </a:cubicBezTo>
                    <a:lnTo>
                      <a:pt x="0" y="77557"/>
                    </a:lnTo>
                    <a:cubicBezTo>
                      <a:pt x="0" y="56988"/>
                      <a:pt x="8171" y="37261"/>
                      <a:pt x="22716" y="22716"/>
                    </a:cubicBezTo>
                    <a:cubicBezTo>
                      <a:pt x="37261" y="8171"/>
                      <a:pt x="56988" y="0"/>
                      <a:pt x="77557" y="0"/>
                    </a:cubicBezTo>
                    <a:close/>
                  </a:path>
                </a:pathLst>
              </a:custGeom>
              <a:gradFill rotWithShape="true">
                <a:gsLst>
                  <a:gs pos="0">
                    <a:srgbClr val="0CC0DF">
                      <a:alpha val="100000"/>
                    </a:srgbClr>
                  </a:gs>
                  <a:gs pos="100000">
                    <a:srgbClr val="FFDE59">
                      <a:alpha val="100000"/>
                    </a:srgbClr>
                  </a:gs>
                </a:gsLst>
                <a:lin ang="0"/>
              </a:gradFill>
              <a:ln w="19050" cap="rnd">
                <a:solidFill>
                  <a:srgbClr val="000000"/>
                </a:solidFill>
                <a:prstDash val="solid"/>
                <a:round/>
              </a:ln>
            </p:spPr>
          </p:sp>
          <p:sp>
            <p:nvSpPr>
              <p:cNvPr name="TextBox 24" id="24"/>
              <p:cNvSpPr txBox="true"/>
              <p:nvPr/>
            </p:nvSpPr>
            <p:spPr>
              <a:xfrm>
                <a:off x="0" y="-38100"/>
                <a:ext cx="1340816" cy="293246"/>
              </a:xfrm>
              <a:prstGeom prst="rect">
                <a:avLst/>
              </a:prstGeom>
            </p:spPr>
            <p:txBody>
              <a:bodyPr anchor="ctr" rtlCol="false" tIns="50800" lIns="50800" bIns="50800" rIns="50800"/>
              <a:lstStyle/>
              <a:p>
                <a:pPr algn="ctr">
                  <a:lnSpc>
                    <a:spcPts val="3360"/>
                  </a:lnSpc>
                </a:pPr>
              </a:p>
            </p:txBody>
          </p:sp>
        </p:grpSp>
        <p:sp>
          <p:nvSpPr>
            <p:cNvPr name="TextBox 25" id="25"/>
            <p:cNvSpPr txBox="true"/>
            <p:nvPr/>
          </p:nvSpPr>
          <p:spPr>
            <a:xfrm rot="0">
              <a:off x="1138010" y="-32798"/>
              <a:ext cx="6196568" cy="1193984"/>
            </a:xfrm>
            <a:prstGeom prst="rect">
              <a:avLst/>
            </a:prstGeom>
          </p:spPr>
          <p:txBody>
            <a:bodyPr anchor="t" rtlCol="false" tIns="0" lIns="0" bIns="0" rIns="0">
              <a:spAutoFit/>
            </a:bodyPr>
            <a:lstStyle/>
            <a:p>
              <a:pPr algn="ctr">
                <a:lnSpc>
                  <a:spcPts val="7510"/>
                </a:lnSpc>
              </a:pPr>
              <a:r>
                <a:rPr lang="en-US" sz="5364" b="true">
                  <a:solidFill>
                    <a:srgbClr val="000000"/>
                  </a:solidFill>
                  <a:latin typeface="Canva Sans Bold"/>
                  <a:ea typeface="Canva Sans Bold"/>
                  <a:cs typeface="Canva Sans Bold"/>
                  <a:sym typeface="Canva Sans Bold"/>
                </a:rPr>
                <a:t>Data Cleaning</a:t>
              </a:r>
            </a:p>
          </p:txBody>
        </p:sp>
        <p:grpSp>
          <p:nvGrpSpPr>
            <p:cNvPr name="Group 26" id="26"/>
            <p:cNvGrpSpPr/>
            <p:nvPr/>
          </p:nvGrpSpPr>
          <p:grpSpPr>
            <a:xfrm rot="0">
              <a:off x="0" y="2772020"/>
              <a:ext cx="8642149" cy="1291678"/>
              <a:chOff x="0" y="0"/>
              <a:chExt cx="1707091" cy="255146"/>
            </a:xfrm>
          </p:grpSpPr>
          <p:sp>
            <p:nvSpPr>
              <p:cNvPr name="Freeform 27" id="27"/>
              <p:cNvSpPr/>
              <p:nvPr/>
            </p:nvSpPr>
            <p:spPr>
              <a:xfrm flipH="false" flipV="false" rot="0">
                <a:off x="0" y="0"/>
                <a:ext cx="1707091" cy="255146"/>
              </a:xfrm>
              <a:custGeom>
                <a:avLst/>
                <a:gdLst/>
                <a:ahLst/>
                <a:cxnLst/>
                <a:rect r="r" b="b" t="t" l="l"/>
                <a:pathLst>
                  <a:path h="255146" w="1707091">
                    <a:moveTo>
                      <a:pt x="62845" y="0"/>
                    </a:moveTo>
                    <a:lnTo>
                      <a:pt x="1644247" y="0"/>
                    </a:lnTo>
                    <a:cubicBezTo>
                      <a:pt x="1660914" y="0"/>
                      <a:pt x="1676899" y="6621"/>
                      <a:pt x="1688684" y="18407"/>
                    </a:cubicBezTo>
                    <a:cubicBezTo>
                      <a:pt x="1700470" y="30192"/>
                      <a:pt x="1707091" y="46177"/>
                      <a:pt x="1707091" y="62845"/>
                    </a:cubicBezTo>
                    <a:lnTo>
                      <a:pt x="1707091" y="192302"/>
                    </a:lnTo>
                    <a:cubicBezTo>
                      <a:pt x="1707091" y="227010"/>
                      <a:pt x="1678955" y="255146"/>
                      <a:pt x="1644247" y="255146"/>
                    </a:cubicBezTo>
                    <a:lnTo>
                      <a:pt x="62845" y="255146"/>
                    </a:lnTo>
                    <a:cubicBezTo>
                      <a:pt x="46177" y="255146"/>
                      <a:pt x="30192" y="248525"/>
                      <a:pt x="18407" y="236740"/>
                    </a:cubicBezTo>
                    <a:cubicBezTo>
                      <a:pt x="6621" y="224954"/>
                      <a:pt x="0" y="208969"/>
                      <a:pt x="0" y="192302"/>
                    </a:cubicBezTo>
                    <a:lnTo>
                      <a:pt x="0" y="62845"/>
                    </a:lnTo>
                    <a:cubicBezTo>
                      <a:pt x="0" y="46177"/>
                      <a:pt x="6621" y="30192"/>
                      <a:pt x="18407" y="18407"/>
                    </a:cubicBezTo>
                    <a:cubicBezTo>
                      <a:pt x="30192" y="6621"/>
                      <a:pt x="46177" y="0"/>
                      <a:pt x="62845" y="0"/>
                    </a:cubicBezTo>
                    <a:close/>
                  </a:path>
                </a:pathLst>
              </a:custGeom>
              <a:gradFill rotWithShape="true">
                <a:gsLst>
                  <a:gs pos="0">
                    <a:srgbClr val="0CC0DF">
                      <a:alpha val="100000"/>
                    </a:srgbClr>
                  </a:gs>
                  <a:gs pos="100000">
                    <a:srgbClr val="FFDE59">
                      <a:alpha val="100000"/>
                    </a:srgbClr>
                  </a:gs>
                </a:gsLst>
                <a:lin ang="0"/>
              </a:gradFill>
              <a:ln w="19050" cap="rnd">
                <a:solidFill>
                  <a:srgbClr val="000000"/>
                </a:solidFill>
                <a:prstDash val="solid"/>
                <a:round/>
              </a:ln>
            </p:spPr>
          </p:sp>
          <p:sp>
            <p:nvSpPr>
              <p:cNvPr name="TextBox 28" id="28"/>
              <p:cNvSpPr txBox="true"/>
              <p:nvPr/>
            </p:nvSpPr>
            <p:spPr>
              <a:xfrm>
                <a:off x="0" y="-38100"/>
                <a:ext cx="1707091" cy="293246"/>
              </a:xfrm>
              <a:prstGeom prst="rect">
                <a:avLst/>
              </a:prstGeom>
            </p:spPr>
            <p:txBody>
              <a:bodyPr anchor="ctr" rtlCol="false" tIns="49242" lIns="49242" bIns="49242" rIns="49242"/>
              <a:lstStyle/>
              <a:p>
                <a:pPr algn="ctr">
                  <a:lnSpc>
                    <a:spcPts val="3360"/>
                  </a:lnSpc>
                </a:pPr>
              </a:p>
            </p:txBody>
          </p:sp>
        </p:grpSp>
        <p:sp>
          <p:nvSpPr>
            <p:cNvPr name="TextBox 29" id="29"/>
            <p:cNvSpPr txBox="true"/>
            <p:nvPr/>
          </p:nvSpPr>
          <p:spPr>
            <a:xfrm rot="0">
              <a:off x="392808" y="2746539"/>
              <a:ext cx="7647274" cy="1151043"/>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Feature Selection </a:t>
              </a:r>
            </a:p>
          </p:txBody>
        </p:sp>
        <p:grpSp>
          <p:nvGrpSpPr>
            <p:cNvPr name="Group 30" id="30"/>
            <p:cNvGrpSpPr/>
            <p:nvPr/>
          </p:nvGrpSpPr>
          <p:grpSpPr>
            <a:xfrm rot="0">
              <a:off x="0" y="5456632"/>
              <a:ext cx="8642149" cy="1291678"/>
              <a:chOff x="0" y="0"/>
              <a:chExt cx="1707091" cy="255146"/>
            </a:xfrm>
          </p:grpSpPr>
          <p:sp>
            <p:nvSpPr>
              <p:cNvPr name="Freeform 31" id="31"/>
              <p:cNvSpPr/>
              <p:nvPr/>
            </p:nvSpPr>
            <p:spPr>
              <a:xfrm flipH="false" flipV="false" rot="0">
                <a:off x="0" y="0"/>
                <a:ext cx="1707091" cy="255146"/>
              </a:xfrm>
              <a:custGeom>
                <a:avLst/>
                <a:gdLst/>
                <a:ahLst/>
                <a:cxnLst/>
                <a:rect r="r" b="b" t="t" l="l"/>
                <a:pathLst>
                  <a:path h="255146" w="1707091">
                    <a:moveTo>
                      <a:pt x="62845" y="0"/>
                    </a:moveTo>
                    <a:lnTo>
                      <a:pt x="1644247" y="0"/>
                    </a:lnTo>
                    <a:cubicBezTo>
                      <a:pt x="1660914" y="0"/>
                      <a:pt x="1676899" y="6621"/>
                      <a:pt x="1688684" y="18407"/>
                    </a:cubicBezTo>
                    <a:cubicBezTo>
                      <a:pt x="1700470" y="30192"/>
                      <a:pt x="1707091" y="46177"/>
                      <a:pt x="1707091" y="62845"/>
                    </a:cubicBezTo>
                    <a:lnTo>
                      <a:pt x="1707091" y="192302"/>
                    </a:lnTo>
                    <a:cubicBezTo>
                      <a:pt x="1707091" y="227010"/>
                      <a:pt x="1678955" y="255146"/>
                      <a:pt x="1644247" y="255146"/>
                    </a:cubicBezTo>
                    <a:lnTo>
                      <a:pt x="62845" y="255146"/>
                    </a:lnTo>
                    <a:cubicBezTo>
                      <a:pt x="46177" y="255146"/>
                      <a:pt x="30192" y="248525"/>
                      <a:pt x="18407" y="236740"/>
                    </a:cubicBezTo>
                    <a:cubicBezTo>
                      <a:pt x="6621" y="224954"/>
                      <a:pt x="0" y="208969"/>
                      <a:pt x="0" y="192302"/>
                    </a:cubicBezTo>
                    <a:lnTo>
                      <a:pt x="0" y="62845"/>
                    </a:lnTo>
                    <a:cubicBezTo>
                      <a:pt x="0" y="46177"/>
                      <a:pt x="6621" y="30192"/>
                      <a:pt x="18407" y="18407"/>
                    </a:cubicBezTo>
                    <a:cubicBezTo>
                      <a:pt x="30192" y="6621"/>
                      <a:pt x="46177" y="0"/>
                      <a:pt x="62845" y="0"/>
                    </a:cubicBezTo>
                    <a:close/>
                  </a:path>
                </a:pathLst>
              </a:custGeom>
              <a:gradFill rotWithShape="true">
                <a:gsLst>
                  <a:gs pos="0">
                    <a:srgbClr val="0CC0DF">
                      <a:alpha val="100000"/>
                    </a:srgbClr>
                  </a:gs>
                  <a:gs pos="100000">
                    <a:srgbClr val="FFDE59">
                      <a:alpha val="100000"/>
                    </a:srgbClr>
                  </a:gs>
                </a:gsLst>
                <a:lin ang="0"/>
              </a:gradFill>
              <a:ln w="19050" cap="rnd">
                <a:solidFill>
                  <a:srgbClr val="000000"/>
                </a:solidFill>
                <a:prstDash val="solid"/>
                <a:round/>
              </a:ln>
            </p:spPr>
          </p:sp>
          <p:sp>
            <p:nvSpPr>
              <p:cNvPr name="TextBox 32" id="32"/>
              <p:cNvSpPr txBox="true"/>
              <p:nvPr/>
            </p:nvSpPr>
            <p:spPr>
              <a:xfrm>
                <a:off x="0" y="-95250"/>
                <a:ext cx="1707091" cy="350396"/>
              </a:xfrm>
              <a:prstGeom prst="rect">
                <a:avLst/>
              </a:prstGeom>
            </p:spPr>
            <p:txBody>
              <a:bodyPr anchor="ctr" rtlCol="false" tIns="49242" lIns="49242" bIns="49242" rIns="49242"/>
              <a:lstStyle/>
              <a:p>
                <a:pPr algn="ctr" marL="0" indent="0" lvl="0">
                  <a:lnSpc>
                    <a:spcPts val="7279"/>
                  </a:lnSpc>
                  <a:spcBef>
                    <a:spcPct val="0"/>
                  </a:spcBef>
                </a:pPr>
              </a:p>
            </p:txBody>
          </p:sp>
        </p:grpSp>
        <p:sp>
          <p:nvSpPr>
            <p:cNvPr name="TextBox 33" id="33"/>
            <p:cNvSpPr txBox="true"/>
            <p:nvPr/>
          </p:nvSpPr>
          <p:spPr>
            <a:xfrm rot="0">
              <a:off x="392808" y="5431150"/>
              <a:ext cx="7647274" cy="1151043"/>
            </a:xfrm>
            <a:prstGeom prst="rect">
              <a:avLst/>
            </a:prstGeom>
          </p:spPr>
          <p:txBody>
            <a:bodyPr anchor="t" rtlCol="false" tIns="0" lIns="0" bIns="0" rIns="0">
              <a:spAutoFit/>
            </a:bodyPr>
            <a:lstStyle/>
            <a:p>
              <a:pPr algn="ctr" marL="0" indent="0" lvl="0">
                <a:lnSpc>
                  <a:spcPts val="7279"/>
                </a:lnSpc>
                <a:spcBef>
                  <a:spcPct val="0"/>
                </a:spcBef>
              </a:pPr>
              <a:r>
                <a:rPr lang="en-US" b="true" sz="5199" strike="noStrike" u="none">
                  <a:solidFill>
                    <a:srgbClr val="000000"/>
                  </a:solidFill>
                  <a:latin typeface="Canva Sans Bold"/>
                  <a:ea typeface="Canva Sans Bold"/>
                  <a:cs typeface="Canva Sans Bold"/>
                  <a:sym typeface="Canva Sans Bold"/>
                </a:rPr>
                <a:t>Model Training</a:t>
              </a:r>
            </a:p>
          </p:txBody>
        </p:sp>
        <p:grpSp>
          <p:nvGrpSpPr>
            <p:cNvPr name="Group 34" id="34"/>
            <p:cNvGrpSpPr/>
            <p:nvPr/>
          </p:nvGrpSpPr>
          <p:grpSpPr>
            <a:xfrm rot="0">
              <a:off x="0" y="8407308"/>
              <a:ext cx="8642149" cy="1291678"/>
              <a:chOff x="0" y="0"/>
              <a:chExt cx="1707091" cy="255146"/>
            </a:xfrm>
          </p:grpSpPr>
          <p:sp>
            <p:nvSpPr>
              <p:cNvPr name="Freeform 35" id="35"/>
              <p:cNvSpPr/>
              <p:nvPr/>
            </p:nvSpPr>
            <p:spPr>
              <a:xfrm flipH="false" flipV="false" rot="0">
                <a:off x="0" y="0"/>
                <a:ext cx="1707091" cy="255146"/>
              </a:xfrm>
              <a:custGeom>
                <a:avLst/>
                <a:gdLst/>
                <a:ahLst/>
                <a:cxnLst/>
                <a:rect r="r" b="b" t="t" l="l"/>
                <a:pathLst>
                  <a:path h="255146" w="1707091">
                    <a:moveTo>
                      <a:pt x="62845" y="0"/>
                    </a:moveTo>
                    <a:lnTo>
                      <a:pt x="1644247" y="0"/>
                    </a:lnTo>
                    <a:cubicBezTo>
                      <a:pt x="1660914" y="0"/>
                      <a:pt x="1676899" y="6621"/>
                      <a:pt x="1688684" y="18407"/>
                    </a:cubicBezTo>
                    <a:cubicBezTo>
                      <a:pt x="1700470" y="30192"/>
                      <a:pt x="1707091" y="46177"/>
                      <a:pt x="1707091" y="62845"/>
                    </a:cubicBezTo>
                    <a:lnTo>
                      <a:pt x="1707091" y="192302"/>
                    </a:lnTo>
                    <a:cubicBezTo>
                      <a:pt x="1707091" y="227010"/>
                      <a:pt x="1678955" y="255146"/>
                      <a:pt x="1644247" y="255146"/>
                    </a:cubicBezTo>
                    <a:lnTo>
                      <a:pt x="62845" y="255146"/>
                    </a:lnTo>
                    <a:cubicBezTo>
                      <a:pt x="46177" y="255146"/>
                      <a:pt x="30192" y="248525"/>
                      <a:pt x="18407" y="236740"/>
                    </a:cubicBezTo>
                    <a:cubicBezTo>
                      <a:pt x="6621" y="224954"/>
                      <a:pt x="0" y="208969"/>
                      <a:pt x="0" y="192302"/>
                    </a:cubicBezTo>
                    <a:lnTo>
                      <a:pt x="0" y="62845"/>
                    </a:lnTo>
                    <a:cubicBezTo>
                      <a:pt x="0" y="46177"/>
                      <a:pt x="6621" y="30192"/>
                      <a:pt x="18407" y="18407"/>
                    </a:cubicBezTo>
                    <a:cubicBezTo>
                      <a:pt x="30192" y="6621"/>
                      <a:pt x="46177" y="0"/>
                      <a:pt x="62845" y="0"/>
                    </a:cubicBezTo>
                    <a:close/>
                  </a:path>
                </a:pathLst>
              </a:custGeom>
              <a:gradFill rotWithShape="true">
                <a:gsLst>
                  <a:gs pos="0">
                    <a:srgbClr val="0CC0DF">
                      <a:alpha val="100000"/>
                    </a:srgbClr>
                  </a:gs>
                  <a:gs pos="100000">
                    <a:srgbClr val="FFDE59">
                      <a:alpha val="100000"/>
                    </a:srgbClr>
                  </a:gs>
                </a:gsLst>
                <a:lin ang="0"/>
              </a:gradFill>
              <a:ln w="19050" cap="rnd">
                <a:solidFill>
                  <a:srgbClr val="000000"/>
                </a:solidFill>
                <a:prstDash val="solid"/>
                <a:round/>
              </a:ln>
            </p:spPr>
          </p:sp>
          <p:sp>
            <p:nvSpPr>
              <p:cNvPr name="TextBox 36" id="36"/>
              <p:cNvSpPr txBox="true"/>
              <p:nvPr/>
            </p:nvSpPr>
            <p:spPr>
              <a:xfrm>
                <a:off x="0" y="-38100"/>
                <a:ext cx="1707091" cy="293246"/>
              </a:xfrm>
              <a:prstGeom prst="rect">
                <a:avLst/>
              </a:prstGeom>
            </p:spPr>
            <p:txBody>
              <a:bodyPr anchor="ctr" rtlCol="false" tIns="49242" lIns="49242" bIns="49242" rIns="49242"/>
              <a:lstStyle/>
              <a:p>
                <a:pPr algn="ctr">
                  <a:lnSpc>
                    <a:spcPts val="3360"/>
                  </a:lnSpc>
                </a:pPr>
              </a:p>
            </p:txBody>
          </p:sp>
        </p:grpSp>
        <p:sp>
          <p:nvSpPr>
            <p:cNvPr name="TextBox 37" id="37"/>
            <p:cNvSpPr txBox="true"/>
            <p:nvPr/>
          </p:nvSpPr>
          <p:spPr>
            <a:xfrm rot="0">
              <a:off x="392808" y="8381826"/>
              <a:ext cx="7647274" cy="1151043"/>
            </a:xfrm>
            <a:prstGeom prst="rect">
              <a:avLst/>
            </a:prstGeom>
          </p:spPr>
          <p:txBody>
            <a:bodyPr anchor="t" rtlCol="false" tIns="0" lIns="0" bIns="0" rIns="0">
              <a:spAutoFit/>
            </a:bodyPr>
            <a:lstStyle/>
            <a:p>
              <a:pPr algn="ctr">
                <a:lnSpc>
                  <a:spcPts val="7279"/>
                </a:lnSpc>
              </a:pPr>
              <a:r>
                <a:rPr lang="en-US" sz="5199" b="true">
                  <a:solidFill>
                    <a:srgbClr val="000000"/>
                  </a:solidFill>
                  <a:latin typeface="Canva Sans Bold"/>
                  <a:ea typeface="Canva Sans Bold"/>
                  <a:cs typeface="Canva Sans Bold"/>
                  <a:sym typeface="Canva Sans Bold"/>
                </a:rPr>
                <a:t>Web Application</a:t>
              </a:r>
            </a:p>
          </p:txBody>
        </p:sp>
      </p:grpSp>
      <p:pic>
        <p:nvPicPr>
          <p:cNvPr name="Picture 38" id="38"/>
          <p:cNvPicPr>
            <a:picLocks noChangeAspect="true"/>
          </p:cNvPicPr>
          <p:nvPr/>
        </p:nvPicPr>
        <p:blipFill>
          <a:blip r:embed="rId13"/>
          <a:srcRect l="0" t="0" r="0" b="0"/>
          <a:stretch>
            <a:fillRect/>
          </a:stretch>
        </p:blipFill>
        <p:spPr>
          <a:xfrm flipH="false" flipV="false" rot="0">
            <a:off x="14398068" y="2543027"/>
            <a:ext cx="966238" cy="1079596"/>
          </a:xfrm>
          <a:prstGeom prst="rect">
            <a:avLst/>
          </a:prstGeom>
        </p:spPr>
      </p:pic>
      <p:sp>
        <p:nvSpPr>
          <p:cNvPr name="TextBox 39" id="39"/>
          <p:cNvSpPr txBox="true"/>
          <p:nvPr/>
        </p:nvSpPr>
        <p:spPr>
          <a:xfrm rot="0">
            <a:off x="-2331075" y="540519"/>
            <a:ext cx="11475075"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EXECUTIVE SUMMARY</a:t>
            </a:r>
          </a:p>
        </p:txBody>
      </p:sp>
      <p:pic>
        <p:nvPicPr>
          <p:cNvPr name="Picture 40" id="40"/>
          <p:cNvPicPr>
            <a:picLocks noChangeAspect="true"/>
          </p:cNvPicPr>
          <p:nvPr/>
        </p:nvPicPr>
        <p:blipFill>
          <a:blip r:embed="rId13"/>
          <a:srcRect l="0" t="0" r="0" b="0"/>
          <a:stretch>
            <a:fillRect/>
          </a:stretch>
        </p:blipFill>
        <p:spPr>
          <a:xfrm flipH="false" flipV="false" rot="0">
            <a:off x="14398068" y="4537022"/>
            <a:ext cx="966238" cy="1079596"/>
          </a:xfrm>
          <a:prstGeom prst="rect">
            <a:avLst/>
          </a:prstGeom>
        </p:spPr>
      </p:pic>
      <p:pic>
        <p:nvPicPr>
          <p:cNvPr name="Picture 41" id="41"/>
          <p:cNvPicPr>
            <a:picLocks noChangeAspect="true"/>
          </p:cNvPicPr>
          <p:nvPr/>
        </p:nvPicPr>
        <p:blipFill>
          <a:blip r:embed="rId13"/>
          <a:srcRect l="0" t="0" r="0" b="0"/>
          <a:stretch>
            <a:fillRect/>
          </a:stretch>
        </p:blipFill>
        <p:spPr>
          <a:xfrm flipH="false" flipV="false" rot="0">
            <a:off x="14398068" y="6534043"/>
            <a:ext cx="966238" cy="1079596"/>
          </a:xfrm>
          <a:prstGeom prst="rect">
            <a:avLst/>
          </a:prstGeom>
        </p:spPr>
      </p:pic>
      <p:sp>
        <p:nvSpPr>
          <p:cNvPr name="TextBox 42" id="42"/>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3</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529983"/>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000"/>
              <a:extLst>
                <a:ext uri="{96DAC541-7B7A-43D3-8B79-37D633B846F1}">
                  <asvg:svgBlip xmlns:asvg="http://schemas.microsoft.com/office/drawing/2016/SVG/main" r:embed="rId4"/>
                </a:ext>
              </a:extLst>
            </a:blip>
            <a:stretch>
              <a:fillRect l="0" t="0" r="0" b="0"/>
            </a:stretch>
          </a:blipFill>
        </p:spPr>
      </p:sp>
      <p:sp>
        <p:nvSpPr>
          <p:cNvPr name="Freeform 3" id="3"/>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5">
              <a:alphaModFix amt="16000"/>
              <a:extLst>
                <a:ext uri="{96DAC541-7B7A-43D3-8B79-37D633B846F1}">
                  <asvg:svgBlip xmlns:asvg="http://schemas.microsoft.com/office/drawing/2016/SVG/main" r:embed="rId6"/>
                </a:ext>
              </a:extLst>
            </a:blip>
            <a:stretch>
              <a:fillRect l="0" t="0" r="0" b="0"/>
            </a:stretch>
          </a:blipFill>
        </p:spPr>
      </p:sp>
      <p:grpSp>
        <p:nvGrpSpPr>
          <p:cNvPr name="Group 4" id="4"/>
          <p:cNvGrpSpPr/>
          <p:nvPr/>
        </p:nvGrpSpPr>
        <p:grpSpPr>
          <a:xfrm rot="0">
            <a:off x="250878" y="1442454"/>
            <a:ext cx="6700088" cy="223872"/>
            <a:chOff x="0" y="0"/>
            <a:chExt cx="1764632" cy="58962"/>
          </a:xfrm>
        </p:grpSpPr>
        <p:sp>
          <p:nvSpPr>
            <p:cNvPr name="Freeform 5" id="5"/>
            <p:cNvSpPr/>
            <p:nvPr/>
          </p:nvSpPr>
          <p:spPr>
            <a:xfrm flipH="false" flipV="false" rot="0">
              <a:off x="0" y="0"/>
              <a:ext cx="1764632" cy="58962"/>
            </a:xfrm>
            <a:custGeom>
              <a:avLst/>
              <a:gdLst/>
              <a:ahLst/>
              <a:cxnLst/>
              <a:rect r="r" b="b" t="t" l="l"/>
              <a:pathLst>
                <a:path h="58962" w="1764632">
                  <a:moveTo>
                    <a:pt x="0" y="0"/>
                  </a:moveTo>
                  <a:lnTo>
                    <a:pt x="1764632" y="0"/>
                  </a:lnTo>
                  <a:lnTo>
                    <a:pt x="1764632" y="58962"/>
                  </a:lnTo>
                  <a:lnTo>
                    <a:pt x="0" y="58962"/>
                  </a:lnTo>
                  <a:close/>
                </a:path>
              </a:pathLst>
            </a:custGeom>
            <a:solidFill>
              <a:srgbClr val="F9B314"/>
            </a:solidFill>
          </p:spPr>
        </p:sp>
        <p:sp>
          <p:nvSpPr>
            <p:cNvPr name="TextBox 6" id="6"/>
            <p:cNvSpPr txBox="true"/>
            <p:nvPr/>
          </p:nvSpPr>
          <p:spPr>
            <a:xfrm>
              <a:off x="0" y="-38100"/>
              <a:ext cx="1764632" cy="97062"/>
            </a:xfrm>
            <a:prstGeom prst="rect">
              <a:avLst/>
            </a:prstGeom>
          </p:spPr>
          <p:txBody>
            <a:bodyPr anchor="ctr" rtlCol="false" tIns="50800" lIns="50800" bIns="50800" rIns="50800"/>
            <a:lstStyle/>
            <a:p>
              <a:pPr algn="ctr">
                <a:lnSpc>
                  <a:spcPts val="2659"/>
                </a:lnSpc>
                <a:spcBef>
                  <a:spcPct val="0"/>
                </a:spcBef>
              </a:pPr>
            </a:p>
          </p:txBody>
        </p:sp>
      </p:grpSp>
      <p:grpSp>
        <p:nvGrpSpPr>
          <p:cNvPr name="Group 7" id="7"/>
          <p:cNvGrpSpPr/>
          <p:nvPr/>
        </p:nvGrpSpPr>
        <p:grpSpPr>
          <a:xfrm rot="0">
            <a:off x="0" y="2057400"/>
            <a:ext cx="6075964" cy="8229600"/>
            <a:chOff x="0" y="0"/>
            <a:chExt cx="1600254" cy="2167467"/>
          </a:xfrm>
        </p:grpSpPr>
        <p:sp>
          <p:nvSpPr>
            <p:cNvPr name="Freeform 8" id="8"/>
            <p:cNvSpPr/>
            <p:nvPr/>
          </p:nvSpPr>
          <p:spPr>
            <a:xfrm flipH="false" flipV="false" rot="0">
              <a:off x="0" y="0"/>
              <a:ext cx="1600254" cy="2167467"/>
            </a:xfrm>
            <a:custGeom>
              <a:avLst/>
              <a:gdLst/>
              <a:ahLst/>
              <a:cxnLst/>
              <a:rect r="r" b="b" t="t" l="l"/>
              <a:pathLst>
                <a:path h="2167467" w="1600254">
                  <a:moveTo>
                    <a:pt x="0" y="0"/>
                  </a:moveTo>
                  <a:lnTo>
                    <a:pt x="1600254" y="0"/>
                  </a:lnTo>
                  <a:lnTo>
                    <a:pt x="1600254" y="2167467"/>
                  </a:lnTo>
                  <a:lnTo>
                    <a:pt x="0" y="2167467"/>
                  </a:lnTo>
                  <a:close/>
                </a:path>
              </a:pathLst>
            </a:custGeom>
            <a:solidFill>
              <a:srgbClr val="FFFFFF"/>
            </a:solidFill>
            <a:ln w="38100" cap="sq">
              <a:solidFill>
                <a:srgbClr val="154533"/>
              </a:solidFill>
              <a:prstDash val="solid"/>
              <a:miter/>
            </a:ln>
          </p:spPr>
        </p:sp>
        <p:sp>
          <p:nvSpPr>
            <p:cNvPr name="TextBox 9" id="9"/>
            <p:cNvSpPr txBox="true"/>
            <p:nvPr/>
          </p:nvSpPr>
          <p:spPr>
            <a:xfrm>
              <a:off x="0" y="-38100"/>
              <a:ext cx="1600254" cy="2205567"/>
            </a:xfrm>
            <a:prstGeom prst="rect">
              <a:avLst/>
            </a:prstGeom>
          </p:spPr>
          <p:txBody>
            <a:bodyPr anchor="ctr" rtlCol="false" tIns="50800" lIns="50800" bIns="50800" rIns="50800"/>
            <a:lstStyle/>
            <a:p>
              <a:pPr algn="ctr">
                <a:lnSpc>
                  <a:spcPts val="2940"/>
                </a:lnSpc>
              </a:pPr>
            </a:p>
          </p:txBody>
        </p:sp>
      </p:gr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154533"/>
                </a:solidFill>
                <a:latin typeface="Canva Sans"/>
                <a:ea typeface="Canva Sans"/>
                <a:cs typeface="Canva Sans"/>
                <a:sym typeface="Canva Sans"/>
              </a:rPr>
              <a:t>4</a:t>
            </a:r>
          </a:p>
        </p:txBody>
      </p:sp>
      <p:grpSp>
        <p:nvGrpSpPr>
          <p:cNvPr name="Group 11" id="11"/>
          <p:cNvGrpSpPr/>
          <p:nvPr/>
        </p:nvGrpSpPr>
        <p:grpSpPr>
          <a:xfrm rot="0">
            <a:off x="6090991" y="2057400"/>
            <a:ext cx="6075964" cy="8229600"/>
            <a:chOff x="0" y="0"/>
            <a:chExt cx="1600254" cy="2167467"/>
          </a:xfrm>
        </p:grpSpPr>
        <p:sp>
          <p:nvSpPr>
            <p:cNvPr name="Freeform 12" id="12"/>
            <p:cNvSpPr/>
            <p:nvPr/>
          </p:nvSpPr>
          <p:spPr>
            <a:xfrm flipH="false" flipV="false" rot="0">
              <a:off x="0" y="0"/>
              <a:ext cx="1600254" cy="2167467"/>
            </a:xfrm>
            <a:custGeom>
              <a:avLst/>
              <a:gdLst/>
              <a:ahLst/>
              <a:cxnLst/>
              <a:rect r="r" b="b" t="t" l="l"/>
              <a:pathLst>
                <a:path h="2167467" w="1600254">
                  <a:moveTo>
                    <a:pt x="0" y="0"/>
                  </a:moveTo>
                  <a:lnTo>
                    <a:pt x="1600254" y="0"/>
                  </a:lnTo>
                  <a:lnTo>
                    <a:pt x="1600254" y="2167467"/>
                  </a:lnTo>
                  <a:lnTo>
                    <a:pt x="0" y="2167467"/>
                  </a:lnTo>
                  <a:close/>
                </a:path>
              </a:pathLst>
            </a:custGeom>
            <a:solidFill>
              <a:srgbClr val="FFFFFF"/>
            </a:solidFill>
            <a:ln w="38100" cap="sq">
              <a:solidFill>
                <a:srgbClr val="154533"/>
              </a:solidFill>
              <a:prstDash val="solid"/>
              <a:miter/>
            </a:ln>
          </p:spPr>
        </p:sp>
        <p:sp>
          <p:nvSpPr>
            <p:cNvPr name="TextBox 13" id="13"/>
            <p:cNvSpPr txBox="true"/>
            <p:nvPr/>
          </p:nvSpPr>
          <p:spPr>
            <a:xfrm>
              <a:off x="0" y="-38100"/>
              <a:ext cx="1600254" cy="2205567"/>
            </a:xfrm>
            <a:prstGeom prst="rect">
              <a:avLst/>
            </a:prstGeom>
          </p:spPr>
          <p:txBody>
            <a:bodyPr anchor="ctr" rtlCol="false" tIns="50800" lIns="50800" bIns="50800" rIns="50800"/>
            <a:lstStyle/>
            <a:p>
              <a:pPr algn="ctr">
                <a:lnSpc>
                  <a:spcPts val="2940"/>
                </a:lnSpc>
              </a:pPr>
            </a:p>
          </p:txBody>
        </p:sp>
      </p:grpSp>
      <p:grpSp>
        <p:nvGrpSpPr>
          <p:cNvPr name="Group 14" id="14"/>
          <p:cNvGrpSpPr/>
          <p:nvPr/>
        </p:nvGrpSpPr>
        <p:grpSpPr>
          <a:xfrm rot="0">
            <a:off x="12181982" y="2057400"/>
            <a:ext cx="6075964" cy="8229600"/>
            <a:chOff x="0" y="0"/>
            <a:chExt cx="1600254" cy="2167467"/>
          </a:xfrm>
        </p:grpSpPr>
        <p:sp>
          <p:nvSpPr>
            <p:cNvPr name="Freeform 15" id="15"/>
            <p:cNvSpPr/>
            <p:nvPr/>
          </p:nvSpPr>
          <p:spPr>
            <a:xfrm flipH="false" flipV="false" rot="0">
              <a:off x="0" y="0"/>
              <a:ext cx="1600254" cy="2167467"/>
            </a:xfrm>
            <a:custGeom>
              <a:avLst/>
              <a:gdLst/>
              <a:ahLst/>
              <a:cxnLst/>
              <a:rect r="r" b="b" t="t" l="l"/>
              <a:pathLst>
                <a:path h="2167467" w="1600254">
                  <a:moveTo>
                    <a:pt x="0" y="0"/>
                  </a:moveTo>
                  <a:lnTo>
                    <a:pt x="1600254" y="0"/>
                  </a:lnTo>
                  <a:lnTo>
                    <a:pt x="1600254" y="2167467"/>
                  </a:lnTo>
                  <a:lnTo>
                    <a:pt x="0" y="2167467"/>
                  </a:lnTo>
                  <a:close/>
                </a:path>
              </a:pathLst>
            </a:custGeom>
            <a:solidFill>
              <a:srgbClr val="FFFFFF"/>
            </a:solidFill>
            <a:ln w="38100" cap="sq">
              <a:solidFill>
                <a:srgbClr val="154533"/>
              </a:solidFill>
              <a:prstDash val="solid"/>
              <a:miter/>
            </a:ln>
          </p:spPr>
        </p:sp>
        <p:sp>
          <p:nvSpPr>
            <p:cNvPr name="TextBox 16" id="16"/>
            <p:cNvSpPr txBox="true"/>
            <p:nvPr/>
          </p:nvSpPr>
          <p:spPr>
            <a:xfrm>
              <a:off x="0" y="-38100"/>
              <a:ext cx="1600254" cy="2205567"/>
            </a:xfrm>
            <a:prstGeom prst="rect">
              <a:avLst/>
            </a:prstGeom>
          </p:spPr>
          <p:txBody>
            <a:bodyPr anchor="ctr" rtlCol="false" tIns="50800" lIns="50800" bIns="50800" rIns="50800"/>
            <a:lstStyle/>
            <a:p>
              <a:pPr algn="ctr">
                <a:lnSpc>
                  <a:spcPts val="2940"/>
                </a:lnSpc>
              </a:pPr>
            </a:p>
          </p:txBody>
        </p:sp>
      </p:grpSp>
      <p:sp>
        <p:nvSpPr>
          <p:cNvPr name="TextBox 17" id="17"/>
          <p:cNvSpPr txBox="true"/>
          <p:nvPr/>
        </p:nvSpPr>
        <p:spPr>
          <a:xfrm rot="0">
            <a:off x="-1037235" y="270878"/>
            <a:ext cx="6987180"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APPROACH</a:t>
            </a:r>
            <a:r>
              <a:rPr lang="en-US" sz="5999">
                <a:solidFill>
                  <a:srgbClr val="154533"/>
                </a:solidFill>
                <a:latin typeface="Montserrat"/>
                <a:ea typeface="Montserrat"/>
                <a:cs typeface="Montserrat"/>
                <a:sym typeface="Montserrat"/>
              </a:rPr>
              <a:t> </a:t>
            </a:r>
          </a:p>
        </p:txBody>
      </p:sp>
      <p:grpSp>
        <p:nvGrpSpPr>
          <p:cNvPr name="Group 18" id="18"/>
          <p:cNvGrpSpPr/>
          <p:nvPr/>
        </p:nvGrpSpPr>
        <p:grpSpPr>
          <a:xfrm rot="0">
            <a:off x="12212036" y="2057400"/>
            <a:ext cx="6075964" cy="2974704"/>
            <a:chOff x="0" y="0"/>
            <a:chExt cx="8101285" cy="3966272"/>
          </a:xfrm>
        </p:grpSpPr>
        <p:sp>
          <p:nvSpPr>
            <p:cNvPr name="Freeform 19" id="19"/>
            <p:cNvSpPr/>
            <p:nvPr/>
          </p:nvSpPr>
          <p:spPr>
            <a:xfrm flipH="false" flipV="false" rot="0">
              <a:off x="979307" y="1992617"/>
              <a:ext cx="2444155" cy="1973655"/>
            </a:xfrm>
            <a:custGeom>
              <a:avLst/>
              <a:gdLst/>
              <a:ahLst/>
              <a:cxnLst/>
              <a:rect r="r" b="b" t="t" l="l"/>
              <a:pathLst>
                <a:path h="1973655" w="2444155">
                  <a:moveTo>
                    <a:pt x="0" y="0"/>
                  </a:moveTo>
                  <a:lnTo>
                    <a:pt x="2444156" y="0"/>
                  </a:lnTo>
                  <a:lnTo>
                    <a:pt x="2444156" y="1973655"/>
                  </a:lnTo>
                  <a:lnTo>
                    <a:pt x="0" y="197365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0" id="20"/>
            <p:cNvSpPr/>
            <p:nvPr/>
          </p:nvSpPr>
          <p:spPr>
            <a:xfrm flipH="false" flipV="false" rot="0">
              <a:off x="4464863" y="1862578"/>
              <a:ext cx="1894761" cy="2034643"/>
            </a:xfrm>
            <a:custGeom>
              <a:avLst/>
              <a:gdLst/>
              <a:ahLst/>
              <a:cxnLst/>
              <a:rect r="r" b="b" t="t" l="l"/>
              <a:pathLst>
                <a:path h="2034643" w="1894761">
                  <a:moveTo>
                    <a:pt x="0" y="0"/>
                  </a:moveTo>
                  <a:lnTo>
                    <a:pt x="1894761" y="0"/>
                  </a:lnTo>
                  <a:lnTo>
                    <a:pt x="1894761" y="2034643"/>
                  </a:lnTo>
                  <a:lnTo>
                    <a:pt x="0" y="203464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21" id="21"/>
            <p:cNvSpPr txBox="true"/>
            <p:nvPr/>
          </p:nvSpPr>
          <p:spPr>
            <a:xfrm rot="0">
              <a:off x="0" y="-66675"/>
              <a:ext cx="8101285" cy="1646554"/>
            </a:xfrm>
            <a:prstGeom prst="rect">
              <a:avLst/>
            </a:prstGeom>
          </p:spPr>
          <p:txBody>
            <a:bodyPr anchor="t" rtlCol="false" tIns="0" lIns="0" bIns="0" rIns="0">
              <a:spAutoFit/>
            </a:bodyPr>
            <a:lstStyle/>
            <a:p>
              <a:pPr algn="ctr">
                <a:lnSpc>
                  <a:spcPts val="5040"/>
                </a:lnSpc>
              </a:pPr>
              <a:r>
                <a:rPr lang="en-US" sz="3600" b="true">
                  <a:solidFill>
                    <a:srgbClr val="154533"/>
                  </a:solidFill>
                  <a:latin typeface="Canva Sans Bold"/>
                  <a:ea typeface="Canva Sans Bold"/>
                  <a:cs typeface="Canva Sans Bold"/>
                  <a:sym typeface="Canva Sans Bold"/>
                </a:rPr>
                <a:t>Model Training &amp; Deployment</a:t>
              </a:r>
            </a:p>
          </p:txBody>
        </p:sp>
      </p:grpSp>
      <p:grpSp>
        <p:nvGrpSpPr>
          <p:cNvPr name="Group 22" id="22"/>
          <p:cNvGrpSpPr/>
          <p:nvPr/>
        </p:nvGrpSpPr>
        <p:grpSpPr>
          <a:xfrm rot="0">
            <a:off x="6106018" y="2057400"/>
            <a:ext cx="6075964" cy="2922915"/>
            <a:chOff x="0" y="0"/>
            <a:chExt cx="8101285" cy="3897221"/>
          </a:xfrm>
        </p:grpSpPr>
        <p:sp>
          <p:nvSpPr>
            <p:cNvPr name="Freeform 23" id="23"/>
            <p:cNvSpPr/>
            <p:nvPr/>
          </p:nvSpPr>
          <p:spPr>
            <a:xfrm flipH="false" flipV="false" rot="0">
              <a:off x="2873624" y="1579879"/>
              <a:ext cx="2273892" cy="2317342"/>
            </a:xfrm>
            <a:custGeom>
              <a:avLst/>
              <a:gdLst/>
              <a:ahLst/>
              <a:cxnLst/>
              <a:rect r="r" b="b" t="t" l="l"/>
              <a:pathLst>
                <a:path h="2317342" w="2273892">
                  <a:moveTo>
                    <a:pt x="0" y="0"/>
                  </a:moveTo>
                  <a:lnTo>
                    <a:pt x="2273891" y="0"/>
                  </a:lnTo>
                  <a:lnTo>
                    <a:pt x="2273891" y="2317342"/>
                  </a:lnTo>
                  <a:lnTo>
                    <a:pt x="0" y="231734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4" id="24"/>
            <p:cNvSpPr txBox="true"/>
            <p:nvPr/>
          </p:nvSpPr>
          <p:spPr>
            <a:xfrm rot="0">
              <a:off x="0" y="-66675"/>
              <a:ext cx="8101285" cy="1646554"/>
            </a:xfrm>
            <a:prstGeom prst="rect">
              <a:avLst/>
            </a:prstGeom>
          </p:spPr>
          <p:txBody>
            <a:bodyPr anchor="t" rtlCol="false" tIns="0" lIns="0" bIns="0" rIns="0">
              <a:spAutoFit/>
            </a:bodyPr>
            <a:lstStyle/>
            <a:p>
              <a:pPr algn="ctr">
                <a:lnSpc>
                  <a:spcPts val="5040"/>
                </a:lnSpc>
              </a:pPr>
              <a:r>
                <a:rPr lang="en-US" b="true" sz="3600">
                  <a:solidFill>
                    <a:srgbClr val="154533"/>
                  </a:solidFill>
                  <a:latin typeface="Canva Sans Bold"/>
                  <a:ea typeface="Canva Sans Bold"/>
                  <a:cs typeface="Canva Sans Bold"/>
                  <a:sym typeface="Canva Sans Bold"/>
                </a:rPr>
                <a:t> Feature Extraction &amp; Selection</a:t>
              </a:r>
            </a:p>
          </p:txBody>
        </p:sp>
      </p:grpSp>
      <p:grpSp>
        <p:nvGrpSpPr>
          <p:cNvPr name="Group 25" id="25"/>
          <p:cNvGrpSpPr/>
          <p:nvPr/>
        </p:nvGrpSpPr>
        <p:grpSpPr>
          <a:xfrm rot="0">
            <a:off x="0" y="2057400"/>
            <a:ext cx="6075964" cy="2922915"/>
            <a:chOff x="0" y="0"/>
            <a:chExt cx="8101285" cy="3897221"/>
          </a:xfrm>
        </p:grpSpPr>
        <p:sp>
          <p:nvSpPr>
            <p:cNvPr name="Freeform 26" id="26"/>
            <p:cNvSpPr/>
            <p:nvPr/>
          </p:nvSpPr>
          <p:spPr>
            <a:xfrm flipH="false" flipV="false" rot="0">
              <a:off x="2738291" y="1797458"/>
              <a:ext cx="2624703" cy="2099762"/>
            </a:xfrm>
            <a:custGeom>
              <a:avLst/>
              <a:gdLst/>
              <a:ahLst/>
              <a:cxnLst/>
              <a:rect r="r" b="b" t="t" l="l"/>
              <a:pathLst>
                <a:path h="2099762" w="2624703">
                  <a:moveTo>
                    <a:pt x="0" y="0"/>
                  </a:moveTo>
                  <a:lnTo>
                    <a:pt x="2624703" y="0"/>
                  </a:lnTo>
                  <a:lnTo>
                    <a:pt x="2624703" y="2099763"/>
                  </a:lnTo>
                  <a:lnTo>
                    <a:pt x="0" y="2099763"/>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TextBox 27" id="27"/>
            <p:cNvSpPr txBox="true"/>
            <p:nvPr/>
          </p:nvSpPr>
          <p:spPr>
            <a:xfrm rot="0">
              <a:off x="0" y="-66675"/>
              <a:ext cx="8101285" cy="1646554"/>
            </a:xfrm>
            <a:prstGeom prst="rect">
              <a:avLst/>
            </a:prstGeom>
          </p:spPr>
          <p:txBody>
            <a:bodyPr anchor="t" rtlCol="false" tIns="0" lIns="0" bIns="0" rIns="0">
              <a:spAutoFit/>
            </a:bodyPr>
            <a:lstStyle/>
            <a:p>
              <a:pPr algn="ctr">
                <a:lnSpc>
                  <a:spcPts val="5040"/>
                </a:lnSpc>
              </a:pPr>
              <a:r>
                <a:rPr lang="en-US" sz="3600" b="true">
                  <a:solidFill>
                    <a:srgbClr val="154533"/>
                  </a:solidFill>
                  <a:latin typeface="Canva Sans Bold"/>
                  <a:ea typeface="Canva Sans Bold"/>
                  <a:cs typeface="Canva Sans Bold"/>
                  <a:sym typeface="Canva Sans Bold"/>
                </a:rPr>
                <a:t>Data Collection &amp; Preprocessing</a:t>
              </a:r>
            </a:p>
          </p:txBody>
        </p:sp>
      </p:grpSp>
      <p:sp>
        <p:nvSpPr>
          <p:cNvPr name="TextBox 28" id="28"/>
          <p:cNvSpPr txBox="true"/>
          <p:nvPr/>
        </p:nvSpPr>
        <p:spPr>
          <a:xfrm rot="0">
            <a:off x="0" y="5105400"/>
            <a:ext cx="6075964" cy="4794250"/>
          </a:xfrm>
          <a:prstGeom prst="rect">
            <a:avLst/>
          </a:prstGeom>
        </p:spPr>
        <p:txBody>
          <a:bodyPr anchor="t" rtlCol="false" tIns="0" lIns="0" bIns="0" rIns="0">
            <a:spAutoFit/>
          </a:bodyPr>
          <a:lstStyle/>
          <a:p>
            <a:pPr algn="ctr">
              <a:lnSpc>
                <a:spcPts val="3499"/>
              </a:lnSpc>
            </a:pPr>
            <a:r>
              <a:rPr lang="en-US" sz="2499" b="true">
                <a:solidFill>
                  <a:srgbClr val="154533"/>
                </a:solidFill>
                <a:latin typeface="Montserrat Bold"/>
                <a:ea typeface="Montserrat Bold"/>
                <a:cs typeface="Montserrat Bold"/>
                <a:sym typeface="Montserrat Bold"/>
              </a:rPr>
              <a:t>Dataset: </a:t>
            </a:r>
            <a:r>
              <a:rPr lang="en-US" sz="2499" b="true">
                <a:solidFill>
                  <a:srgbClr val="154533"/>
                </a:solidFill>
                <a:latin typeface="Montserrat Medium"/>
                <a:ea typeface="Montserrat Medium"/>
                <a:cs typeface="Montserrat Medium"/>
                <a:sym typeface="Montserrat Medium"/>
              </a:rPr>
              <a:t>Collected job posting data (text + structured data) from kaggle.</a:t>
            </a:r>
          </a:p>
          <a:p>
            <a:pPr algn="ctr">
              <a:lnSpc>
                <a:spcPts val="3499"/>
              </a:lnSpc>
            </a:pPr>
            <a:r>
              <a:rPr lang="en-US" sz="2499" b="true">
                <a:solidFill>
                  <a:srgbClr val="154533"/>
                </a:solidFill>
                <a:latin typeface="Montserrat Medium"/>
                <a:ea typeface="Montserrat Medium"/>
                <a:cs typeface="Montserrat Medium"/>
                <a:sym typeface="Montserrat Medium"/>
              </a:rPr>
              <a:t> </a:t>
            </a:r>
            <a:r>
              <a:rPr lang="en-US" sz="2499" b="true">
                <a:solidFill>
                  <a:srgbClr val="154533"/>
                </a:solidFill>
                <a:latin typeface="Montserrat Bold"/>
                <a:ea typeface="Montserrat Bold"/>
                <a:cs typeface="Montserrat Bold"/>
                <a:sym typeface="Montserrat Bold"/>
              </a:rPr>
              <a:t>🧹 Text Preprocessing:</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Lowercasing</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HTML tag removal</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Contraction expansion (e.g., "I'm" to "I am")</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Gibberish removal</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Lemmatization &amp; stopword removal</a:t>
            </a:r>
          </a:p>
          <a:p>
            <a:pPr algn="ctr">
              <a:lnSpc>
                <a:spcPts val="3499"/>
              </a:lnSpc>
              <a:spcBef>
                <a:spcPct val="0"/>
              </a:spcBef>
            </a:pPr>
          </a:p>
        </p:txBody>
      </p:sp>
      <p:sp>
        <p:nvSpPr>
          <p:cNvPr name="TextBox 29" id="29"/>
          <p:cNvSpPr txBox="true"/>
          <p:nvPr/>
        </p:nvSpPr>
        <p:spPr>
          <a:xfrm rot="0">
            <a:off x="6075964" y="5106670"/>
            <a:ext cx="6075964" cy="3917950"/>
          </a:xfrm>
          <a:prstGeom prst="rect">
            <a:avLst/>
          </a:prstGeom>
        </p:spPr>
        <p:txBody>
          <a:bodyPr anchor="t" rtlCol="false" tIns="0" lIns="0" bIns="0" rIns="0">
            <a:spAutoFit/>
          </a:bodyPr>
          <a:lstStyle/>
          <a:p>
            <a:pPr algn="ctr">
              <a:lnSpc>
                <a:spcPts val="3499"/>
              </a:lnSpc>
            </a:pPr>
            <a:r>
              <a:rPr lang="en-US" sz="2499" b="true">
                <a:solidFill>
                  <a:srgbClr val="154533"/>
                </a:solidFill>
                <a:latin typeface="Montserrat Medium"/>
                <a:ea typeface="Montserrat Medium"/>
                <a:cs typeface="Montserrat Medium"/>
                <a:sym typeface="Montserrat Medium"/>
              </a:rPr>
              <a:t>🔍 </a:t>
            </a:r>
            <a:r>
              <a:rPr lang="en-US" sz="2499" b="true">
                <a:solidFill>
                  <a:srgbClr val="154533"/>
                </a:solidFill>
                <a:latin typeface="Montserrat Bold"/>
                <a:ea typeface="Montserrat Bold"/>
                <a:cs typeface="Montserrat Bold"/>
                <a:sym typeface="Montserrat Bold"/>
              </a:rPr>
              <a:t>Text Features:</a:t>
            </a:r>
            <a:r>
              <a:rPr lang="en-US" sz="2499" b="true">
                <a:solidFill>
                  <a:srgbClr val="154533"/>
                </a:solidFill>
                <a:latin typeface="Montserrat Medium"/>
                <a:ea typeface="Montserrat Medium"/>
                <a:cs typeface="Montserrat Medium"/>
                <a:sym typeface="Montserrat Medium"/>
              </a:rPr>
              <a:t> Extracted features using TF-IDF (up to 5000 words per column).</a:t>
            </a:r>
          </a:p>
          <a:p>
            <a:pPr algn="ctr">
              <a:lnSpc>
                <a:spcPts val="3499"/>
              </a:lnSpc>
            </a:pPr>
            <a:r>
              <a:rPr lang="en-US" sz="2499" b="true">
                <a:solidFill>
                  <a:srgbClr val="154533"/>
                </a:solidFill>
                <a:latin typeface="Montserrat Bold"/>
                <a:ea typeface="Montserrat Bold"/>
                <a:cs typeface="Montserrat Bold"/>
                <a:sym typeface="Montserrat Bold"/>
              </a:rPr>
              <a:t> 📊 Feature Selection:</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Mutual Information (MI) for numeric/categorical features</a:t>
            </a:r>
          </a:p>
          <a:p>
            <a:pPr algn="ctr" marL="539748" indent="-269874" lvl="1">
              <a:lnSpc>
                <a:spcPts val="3499"/>
              </a:lnSpc>
              <a:buFont typeface="Arial"/>
              <a:buChar char="•"/>
            </a:pPr>
            <a:r>
              <a:rPr lang="en-US" b="true" sz="2499">
                <a:solidFill>
                  <a:srgbClr val="154533"/>
                </a:solidFill>
                <a:latin typeface="Montserrat Medium"/>
                <a:ea typeface="Montserrat Medium"/>
                <a:cs typeface="Montserrat Medium"/>
                <a:sym typeface="Montserrat Medium"/>
              </a:rPr>
              <a:t>Chi-Square for categorical features</a:t>
            </a:r>
          </a:p>
          <a:p>
            <a:pPr algn="ctr" marL="539748" indent="-269874" lvl="1">
              <a:lnSpc>
                <a:spcPts val="3499"/>
              </a:lnSpc>
              <a:spcBef>
                <a:spcPct val="0"/>
              </a:spcBef>
              <a:buFont typeface="Arial"/>
              <a:buChar char="•"/>
            </a:pPr>
            <a:r>
              <a:rPr lang="en-US" b="true" sz="2499">
                <a:solidFill>
                  <a:srgbClr val="154533"/>
                </a:solidFill>
                <a:latin typeface="Montserrat Medium"/>
                <a:ea typeface="Montserrat Medium"/>
                <a:cs typeface="Montserrat Medium"/>
                <a:sym typeface="Montserrat Medium"/>
              </a:rPr>
              <a:t>SelectKBest for Random Forest</a:t>
            </a:r>
          </a:p>
        </p:txBody>
      </p:sp>
      <p:sp>
        <p:nvSpPr>
          <p:cNvPr name="TextBox 30" id="30"/>
          <p:cNvSpPr txBox="true"/>
          <p:nvPr/>
        </p:nvSpPr>
        <p:spPr>
          <a:xfrm rot="0">
            <a:off x="12151927" y="5106670"/>
            <a:ext cx="6136073" cy="5198110"/>
          </a:xfrm>
          <a:prstGeom prst="rect">
            <a:avLst/>
          </a:prstGeom>
        </p:spPr>
        <p:txBody>
          <a:bodyPr anchor="t" rtlCol="false" tIns="0" lIns="0" bIns="0" rIns="0">
            <a:spAutoFit/>
          </a:bodyPr>
          <a:lstStyle/>
          <a:p>
            <a:pPr algn="ctr">
              <a:lnSpc>
                <a:spcPts val="3359"/>
              </a:lnSpc>
            </a:pPr>
            <a:r>
              <a:rPr lang="en-US" b="true" sz="2399">
                <a:solidFill>
                  <a:srgbClr val="154533"/>
                </a:solidFill>
                <a:latin typeface="Montserrat Bold"/>
                <a:ea typeface="Montserrat Bold"/>
                <a:cs typeface="Montserrat Bold"/>
                <a:sym typeface="Montserrat Bold"/>
              </a:rPr>
              <a:t>🧠 Models Used:</a:t>
            </a:r>
          </a:p>
          <a:p>
            <a:pPr algn="ctr">
              <a:lnSpc>
                <a:spcPts val="3219"/>
              </a:lnSpc>
            </a:pPr>
            <a:r>
              <a:rPr lang="en-US" b="true" sz="2299">
                <a:solidFill>
                  <a:srgbClr val="154533"/>
                </a:solidFill>
                <a:latin typeface="Montserrat Medium"/>
                <a:ea typeface="Montserrat Medium"/>
                <a:cs typeface="Montserrat Medium"/>
                <a:sym typeface="Montserrat Medium"/>
              </a:rPr>
              <a:t>Logistic Regression (LR)</a:t>
            </a:r>
          </a:p>
          <a:p>
            <a:pPr algn="ctr">
              <a:lnSpc>
                <a:spcPts val="3219"/>
              </a:lnSpc>
            </a:pPr>
            <a:r>
              <a:rPr lang="en-US" b="true" sz="2299">
                <a:solidFill>
                  <a:srgbClr val="154533"/>
                </a:solidFill>
                <a:latin typeface="Montserrat Medium"/>
                <a:ea typeface="Montserrat Medium"/>
                <a:cs typeface="Montserrat Medium"/>
                <a:sym typeface="Montserrat Medium"/>
              </a:rPr>
              <a:t>Random Forest (RF)</a:t>
            </a:r>
          </a:p>
          <a:p>
            <a:pPr algn="ctr">
              <a:lnSpc>
                <a:spcPts val="3219"/>
              </a:lnSpc>
            </a:pPr>
            <a:r>
              <a:rPr lang="en-US" b="true" sz="2299">
                <a:solidFill>
                  <a:srgbClr val="154533"/>
                </a:solidFill>
                <a:latin typeface="Montserrat Medium"/>
                <a:ea typeface="Montserrat Medium"/>
                <a:cs typeface="Montserrat Medium"/>
                <a:sym typeface="Montserrat Medium"/>
              </a:rPr>
              <a:t>Naive Bayes (NB)</a:t>
            </a:r>
          </a:p>
          <a:p>
            <a:pPr algn="ctr">
              <a:lnSpc>
                <a:spcPts val="3219"/>
              </a:lnSpc>
            </a:pPr>
            <a:r>
              <a:rPr lang="en-US" b="true" sz="2299">
                <a:solidFill>
                  <a:srgbClr val="154533"/>
                </a:solidFill>
                <a:latin typeface="Montserrat Medium"/>
                <a:ea typeface="Montserrat Medium"/>
                <a:cs typeface="Montserrat Medium"/>
                <a:sym typeface="Montserrat Medium"/>
              </a:rPr>
              <a:t>XGBoost</a:t>
            </a:r>
          </a:p>
          <a:p>
            <a:pPr algn="ctr">
              <a:lnSpc>
                <a:spcPts val="3219"/>
              </a:lnSpc>
            </a:pPr>
            <a:r>
              <a:rPr lang="en-US" b="true" sz="2299">
                <a:solidFill>
                  <a:srgbClr val="154533"/>
                </a:solidFill>
                <a:latin typeface="Montserrat Medium"/>
                <a:ea typeface="Montserrat Medium"/>
                <a:cs typeface="Montserrat Medium"/>
                <a:sym typeface="Montserrat Medium"/>
              </a:rPr>
              <a:t>DistilBERT</a:t>
            </a:r>
          </a:p>
          <a:p>
            <a:pPr algn="ctr">
              <a:lnSpc>
                <a:spcPts val="3219"/>
              </a:lnSpc>
            </a:pPr>
            <a:r>
              <a:rPr lang="en-US" b="true" sz="2299">
                <a:solidFill>
                  <a:srgbClr val="154533"/>
                </a:solidFill>
                <a:latin typeface="Montserrat Bold"/>
                <a:ea typeface="Montserrat Bold"/>
                <a:cs typeface="Montserrat Bold"/>
                <a:sym typeface="Montserrat Bold"/>
              </a:rPr>
              <a:t>Deployment &amp; Explainability</a:t>
            </a:r>
          </a:p>
          <a:p>
            <a:pPr algn="ctr">
              <a:lnSpc>
                <a:spcPts val="3219"/>
              </a:lnSpc>
            </a:pPr>
            <a:r>
              <a:rPr lang="en-US" b="true" sz="2299">
                <a:solidFill>
                  <a:srgbClr val="154533"/>
                </a:solidFill>
                <a:latin typeface="Montserrat Medium"/>
                <a:ea typeface="Montserrat Medium"/>
                <a:cs typeface="Montserrat Medium"/>
                <a:sym typeface="Montserrat Medium"/>
              </a:rPr>
              <a:t> 🖥️ </a:t>
            </a:r>
            <a:r>
              <a:rPr lang="en-US" b="true" sz="2299">
                <a:solidFill>
                  <a:srgbClr val="154533"/>
                </a:solidFill>
                <a:latin typeface="Montserrat Bold"/>
                <a:ea typeface="Montserrat Bold"/>
                <a:cs typeface="Montserrat Bold"/>
                <a:sym typeface="Montserrat Bold"/>
              </a:rPr>
              <a:t>Streamlit App:</a:t>
            </a:r>
            <a:r>
              <a:rPr lang="en-US" b="true" sz="2299">
                <a:solidFill>
                  <a:srgbClr val="154533"/>
                </a:solidFill>
                <a:latin typeface="Montserrat Medium"/>
                <a:ea typeface="Montserrat Medium"/>
                <a:cs typeface="Montserrat Medium"/>
                <a:sym typeface="Montserrat Medium"/>
              </a:rPr>
              <a:t> Deployed a web app to classify job posts &amp; show prediction probability.</a:t>
            </a:r>
          </a:p>
          <a:p>
            <a:pPr algn="ctr">
              <a:lnSpc>
                <a:spcPts val="3219"/>
              </a:lnSpc>
            </a:pPr>
            <a:r>
              <a:rPr lang="en-US" b="true" sz="2299">
                <a:solidFill>
                  <a:srgbClr val="154533"/>
                </a:solidFill>
                <a:latin typeface="Montserrat Medium"/>
                <a:ea typeface="Montserrat Medium"/>
                <a:cs typeface="Montserrat Medium"/>
                <a:sym typeface="Montserrat Medium"/>
              </a:rPr>
              <a:t> </a:t>
            </a:r>
            <a:r>
              <a:rPr lang="en-US" b="true" sz="2299">
                <a:solidFill>
                  <a:srgbClr val="154533"/>
                </a:solidFill>
                <a:latin typeface="Montserrat Bold"/>
                <a:ea typeface="Montserrat Bold"/>
                <a:cs typeface="Montserrat Bold"/>
                <a:sym typeface="Montserrat Bold"/>
              </a:rPr>
              <a:t>🔍 LIME:</a:t>
            </a:r>
            <a:r>
              <a:rPr lang="en-US" b="true" sz="2299">
                <a:solidFill>
                  <a:srgbClr val="154533"/>
                </a:solidFill>
                <a:latin typeface="Montserrat Medium"/>
                <a:ea typeface="Montserrat Medium"/>
                <a:cs typeface="Montserrat Medium"/>
                <a:sym typeface="Montserrat Medium"/>
              </a:rPr>
              <a:t> Added for explainability to show which features influenced predictions.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9675739" y="5389003"/>
            <a:ext cx="8330335" cy="2686533"/>
          </a:xfrm>
          <a:custGeom>
            <a:avLst/>
            <a:gdLst/>
            <a:ahLst/>
            <a:cxnLst/>
            <a:rect r="r" b="b" t="t" l="l"/>
            <a:pathLst>
              <a:path h="2686533" w="8330335">
                <a:moveTo>
                  <a:pt x="0" y="0"/>
                </a:moveTo>
                <a:lnTo>
                  <a:pt x="8330335" y="0"/>
                </a:lnTo>
                <a:lnTo>
                  <a:pt x="8330335" y="2686533"/>
                </a:lnTo>
                <a:lnTo>
                  <a:pt x="0" y="2686533"/>
                </a:lnTo>
                <a:lnTo>
                  <a:pt x="0" y="0"/>
                </a:lnTo>
                <a:close/>
              </a:path>
            </a:pathLst>
          </a:custGeom>
          <a:blipFill>
            <a:blip r:embed="rId5"/>
            <a:stretch>
              <a:fillRect l="0" t="0" r="0" b="0"/>
            </a:stretch>
          </a:blipFill>
        </p:spPr>
      </p:sp>
      <p:sp>
        <p:nvSpPr>
          <p:cNvPr name="Freeform 7" id="7"/>
          <p:cNvSpPr/>
          <p:nvPr/>
        </p:nvSpPr>
        <p:spPr>
          <a:xfrm flipH="false" flipV="false" rot="0">
            <a:off x="12607442" y="689407"/>
            <a:ext cx="4726927" cy="3728364"/>
          </a:xfrm>
          <a:custGeom>
            <a:avLst/>
            <a:gdLst/>
            <a:ahLst/>
            <a:cxnLst/>
            <a:rect r="r" b="b" t="t" l="l"/>
            <a:pathLst>
              <a:path h="3728364" w="4726927">
                <a:moveTo>
                  <a:pt x="0" y="0"/>
                </a:moveTo>
                <a:lnTo>
                  <a:pt x="4726927" y="0"/>
                </a:lnTo>
                <a:lnTo>
                  <a:pt x="4726927" y="3728364"/>
                </a:lnTo>
                <a:lnTo>
                  <a:pt x="0" y="3728364"/>
                </a:lnTo>
                <a:lnTo>
                  <a:pt x="0" y="0"/>
                </a:lnTo>
                <a:close/>
              </a:path>
            </a:pathLst>
          </a:custGeom>
          <a:blipFill>
            <a:blip r:embed="rId6"/>
            <a:stretch>
              <a:fillRect l="0" t="0" r="0" b="0"/>
            </a:stretch>
          </a:blipFill>
        </p:spPr>
      </p:sp>
      <p:sp>
        <p:nvSpPr>
          <p:cNvPr name="TextBox 8" id="8"/>
          <p:cNvSpPr txBox="true"/>
          <p:nvPr/>
        </p:nvSpPr>
        <p:spPr>
          <a:xfrm rot="0">
            <a:off x="0" y="3211830"/>
            <a:ext cx="9675739" cy="7002780"/>
          </a:xfrm>
          <a:prstGeom prst="rect">
            <a:avLst/>
          </a:prstGeom>
        </p:spPr>
        <p:txBody>
          <a:bodyPr anchor="t" rtlCol="false" tIns="0" lIns="0" bIns="0" rIns="0">
            <a:spAutoFit/>
          </a:bodyPr>
          <a:lstStyle/>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Objective:</a:t>
            </a:r>
            <a:r>
              <a:rPr lang="en-US" b="true" sz="2499">
                <a:solidFill>
                  <a:srgbClr val="2D262A"/>
                </a:solidFill>
                <a:latin typeface="Montserrat Medium"/>
                <a:ea typeface="Montserrat Medium"/>
                <a:cs typeface="Montserrat Medium"/>
                <a:sym typeface="Montserrat Medium"/>
              </a:rPr>
              <a:t> Detect fake job posts using machine learning techniques.</a:t>
            </a:r>
          </a:p>
          <a:p>
            <a:pPr algn="l">
              <a:lnSpc>
                <a:spcPts val="3499"/>
              </a:lnSpc>
            </a:pPr>
          </a:p>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Data Source: </a:t>
            </a:r>
            <a:r>
              <a:rPr lang="en-US" b="true" sz="2499">
                <a:solidFill>
                  <a:srgbClr val="2D262A"/>
                </a:solidFill>
                <a:latin typeface="Montserrat Medium"/>
                <a:ea typeface="Montserrat Medium"/>
                <a:cs typeface="Montserrat Medium"/>
                <a:sym typeface="Montserrat Medium"/>
              </a:rPr>
              <a:t>Kaggle dataset containing job posts with features such as job titles, company profiles, descriptions, and other categorical/text-based features.</a:t>
            </a:r>
          </a:p>
          <a:p>
            <a:pPr algn="l">
              <a:lnSpc>
                <a:spcPts val="3499"/>
              </a:lnSpc>
            </a:pPr>
          </a:p>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Target Variable:</a:t>
            </a:r>
            <a:r>
              <a:rPr lang="en-US" b="true" sz="2499">
                <a:solidFill>
                  <a:srgbClr val="2D262A"/>
                </a:solidFill>
                <a:latin typeface="Montserrat Medium"/>
                <a:ea typeface="Montserrat Medium"/>
                <a:cs typeface="Montserrat Medium"/>
                <a:sym typeface="Montserrat Medium"/>
              </a:rPr>
              <a:t> "Fraudulent" – Identifying fake job postings (1) vs. real job postings (0).</a:t>
            </a:r>
          </a:p>
          <a:p>
            <a:pPr algn="l">
              <a:lnSpc>
                <a:spcPts val="3499"/>
              </a:lnSpc>
            </a:pPr>
          </a:p>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Model Type: </a:t>
            </a:r>
            <a:r>
              <a:rPr lang="en-US" b="true" sz="2499">
                <a:solidFill>
                  <a:srgbClr val="2D262A"/>
                </a:solidFill>
                <a:latin typeface="Montserrat Medium"/>
                <a:ea typeface="Montserrat Medium"/>
                <a:cs typeface="Montserrat Medium"/>
                <a:sym typeface="Montserrat Medium"/>
              </a:rPr>
              <a:t>Supervised classification model using text and tabular data.</a:t>
            </a:r>
          </a:p>
          <a:p>
            <a:pPr algn="l">
              <a:lnSpc>
                <a:spcPts val="3499"/>
              </a:lnSpc>
            </a:pPr>
          </a:p>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Class Imbalance:</a:t>
            </a:r>
            <a:r>
              <a:rPr lang="en-US" b="true" sz="2499">
                <a:solidFill>
                  <a:srgbClr val="2D262A"/>
                </a:solidFill>
                <a:latin typeface="Montserrat Medium"/>
                <a:ea typeface="Montserrat Medium"/>
                <a:cs typeface="Montserrat Medium"/>
                <a:sym typeface="Montserrat Medium"/>
              </a:rPr>
              <a:t> Data is imbalanced with fewer fraudulent job posts.</a:t>
            </a:r>
          </a:p>
          <a:p>
            <a:pPr algn="l">
              <a:lnSpc>
                <a:spcPts val="3639"/>
              </a:lnSpc>
            </a:pPr>
          </a:p>
        </p:txBody>
      </p:sp>
      <p:sp>
        <p:nvSpPr>
          <p:cNvPr name="TextBox 9" id="9"/>
          <p:cNvSpPr txBox="true"/>
          <p:nvPr/>
        </p:nvSpPr>
        <p:spPr>
          <a:xfrm rot="0">
            <a:off x="203200" y="2354199"/>
            <a:ext cx="12233281" cy="503555"/>
          </a:xfrm>
          <a:prstGeom prst="rect">
            <a:avLst/>
          </a:prstGeom>
        </p:spPr>
        <p:txBody>
          <a:bodyPr anchor="t" rtlCol="false" tIns="0" lIns="0" bIns="0" rIns="0">
            <a:spAutoFit/>
          </a:bodyPr>
          <a:lstStyle/>
          <a:p>
            <a:pPr algn="l">
              <a:lnSpc>
                <a:spcPts val="3759"/>
              </a:lnSpc>
            </a:pPr>
            <a:r>
              <a:rPr lang="en-US" sz="3999" b="true">
                <a:solidFill>
                  <a:srgbClr val="1211CA"/>
                </a:solidFill>
                <a:latin typeface="Montserrat Ultra-Bold"/>
                <a:ea typeface="Montserrat Ultra-Bold"/>
                <a:cs typeface="Montserrat Ultra-Bold"/>
                <a:sym typeface="Montserrat Ultra-Bold"/>
              </a:rPr>
              <a:t>Model Description Overview</a:t>
            </a:r>
          </a:p>
        </p:txBody>
      </p:sp>
      <p:sp>
        <p:nvSpPr>
          <p:cNvPr name="TextBox 10" id="10"/>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5</a:t>
            </a:r>
          </a:p>
        </p:txBody>
      </p:sp>
      <p:sp>
        <p:nvSpPr>
          <p:cNvPr name="TextBox 11" id="11"/>
          <p:cNvSpPr txBox="true"/>
          <p:nvPr/>
        </p:nvSpPr>
        <p:spPr>
          <a:xfrm rot="0">
            <a:off x="-214223"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433569" y="2588493"/>
            <a:ext cx="12016913" cy="485706"/>
          </a:xfrm>
          <a:prstGeom prst="rect">
            <a:avLst/>
          </a:prstGeom>
        </p:spPr>
        <p:txBody>
          <a:bodyPr anchor="t" rtlCol="false" tIns="0" lIns="0" bIns="0" rIns="0">
            <a:spAutoFit/>
          </a:bodyPr>
          <a:lstStyle/>
          <a:p>
            <a:pPr algn="l">
              <a:lnSpc>
                <a:spcPts val="3902"/>
              </a:lnSpc>
            </a:pPr>
          </a:p>
        </p:txBody>
      </p:sp>
      <p:sp>
        <p:nvSpPr>
          <p:cNvPr name="TextBox 7" id="7"/>
          <p:cNvSpPr txBox="true"/>
          <p:nvPr/>
        </p:nvSpPr>
        <p:spPr>
          <a:xfrm rot="0">
            <a:off x="190653" y="2056936"/>
            <a:ext cx="17550675" cy="388113"/>
          </a:xfrm>
          <a:prstGeom prst="rect">
            <a:avLst/>
          </a:prstGeom>
        </p:spPr>
        <p:txBody>
          <a:bodyPr anchor="t" rtlCol="false" tIns="0" lIns="0" bIns="0" rIns="0">
            <a:spAutoFit/>
          </a:bodyPr>
          <a:lstStyle/>
          <a:p>
            <a:pPr algn="l">
              <a:lnSpc>
                <a:spcPts val="2914"/>
              </a:lnSpc>
            </a:pPr>
            <a:r>
              <a:rPr lang="en-US" sz="3100" b="true">
                <a:solidFill>
                  <a:srgbClr val="1211CA"/>
                </a:solidFill>
                <a:latin typeface="Montserrat Ultra-Bold"/>
                <a:ea typeface="Montserrat Ultra-Bold"/>
                <a:cs typeface="Montserrat Ultra-Bold"/>
                <a:sym typeface="Montserrat Ultra-Bold"/>
              </a:rPr>
              <a:t>Beyond Basic Detection: Hybrid Models + Explainability + Real-World Deployment</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6</a:t>
            </a:r>
          </a:p>
        </p:txBody>
      </p:sp>
      <p:sp>
        <p:nvSpPr>
          <p:cNvPr name="TextBox 9" id="9"/>
          <p:cNvSpPr txBox="true"/>
          <p:nvPr/>
        </p:nvSpPr>
        <p:spPr>
          <a:xfrm rot="0">
            <a:off x="-214223" y="375742"/>
            <a:ext cx="17299465"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WHAT MAKES OUR PROJECT STAND OUT?</a:t>
            </a:r>
          </a:p>
        </p:txBody>
      </p:sp>
      <p:sp>
        <p:nvSpPr>
          <p:cNvPr name="TextBox 10" id="10"/>
          <p:cNvSpPr txBox="true"/>
          <p:nvPr/>
        </p:nvSpPr>
        <p:spPr>
          <a:xfrm rot="0">
            <a:off x="250878" y="2654598"/>
            <a:ext cx="12330534" cy="2165350"/>
          </a:xfrm>
          <a:prstGeom prst="rect">
            <a:avLst/>
          </a:prstGeom>
        </p:spPr>
        <p:txBody>
          <a:bodyPr anchor="t" rtlCol="false" tIns="0" lIns="0" bIns="0" rIns="0">
            <a:spAutoFit/>
          </a:bodyPr>
          <a:lstStyle/>
          <a:p>
            <a:pPr algn="l">
              <a:lnSpc>
                <a:spcPts val="3499"/>
              </a:lnSpc>
              <a:spcBef>
                <a:spcPct val="0"/>
              </a:spcBef>
            </a:pPr>
            <a:r>
              <a:rPr lang="en-US" b="true" sz="2499">
                <a:solidFill>
                  <a:srgbClr val="2D262A"/>
                </a:solidFill>
                <a:latin typeface="Montserrat Bold"/>
                <a:ea typeface="Montserrat Bold"/>
                <a:cs typeface="Montserrat Bold"/>
                <a:sym typeface="Montserrat Bold"/>
              </a:rPr>
              <a:t>Hybri</a:t>
            </a:r>
            <a:r>
              <a:rPr lang="en-US" b="true" sz="2499" strike="noStrike" u="none">
                <a:solidFill>
                  <a:srgbClr val="2D262A"/>
                </a:solidFill>
                <a:latin typeface="Montserrat Bold"/>
                <a:ea typeface="Montserrat Bold"/>
                <a:cs typeface="Montserrat Bold"/>
                <a:sym typeface="Montserrat Bold"/>
              </a:rPr>
              <a:t>d </a:t>
            </a:r>
            <a:r>
              <a:rPr lang="en-US" b="true" sz="2499" strike="noStrike" u="none">
                <a:solidFill>
                  <a:srgbClr val="2D262A"/>
                </a:solidFill>
                <a:latin typeface="Montserrat Bold"/>
                <a:ea typeface="Montserrat Bold"/>
                <a:cs typeface="Montserrat Bold"/>
                <a:sym typeface="Montserrat Bold"/>
              </a:rPr>
              <a:t>Dat</a:t>
            </a:r>
            <a:r>
              <a:rPr lang="en-US" b="true" sz="2499" strike="noStrike" u="none">
                <a:solidFill>
                  <a:srgbClr val="2D262A"/>
                </a:solidFill>
                <a:latin typeface="Montserrat Bold"/>
                <a:ea typeface="Montserrat Bold"/>
                <a:cs typeface="Montserrat Bold"/>
                <a:sym typeface="Montserrat Bold"/>
              </a:rPr>
              <a:t>a </a:t>
            </a:r>
            <a:r>
              <a:rPr lang="en-US" b="true" sz="2499" strike="noStrike" u="none">
                <a:solidFill>
                  <a:srgbClr val="2D262A"/>
                </a:solidFill>
                <a:latin typeface="Montserrat Bold"/>
                <a:ea typeface="Montserrat Bold"/>
                <a:cs typeface="Montserrat Bold"/>
                <a:sym typeface="Montserrat Bold"/>
              </a:rPr>
              <a:t>Approach</a:t>
            </a:r>
          </a:p>
          <a:p>
            <a:pPr algn="l" marL="539749" indent="-269875" lvl="1">
              <a:lnSpc>
                <a:spcPts val="3499"/>
              </a:lnSpc>
              <a:spcBef>
                <a:spcPct val="0"/>
              </a:spcBef>
              <a:buFont typeface="Arial"/>
              <a:buChar char="•"/>
            </a:pPr>
            <a:r>
              <a:rPr lang="en-US" b="true" sz="2499" strike="noStrike" u="none">
                <a:solidFill>
                  <a:srgbClr val="2D262A"/>
                </a:solidFill>
                <a:latin typeface="Montserrat Medium"/>
                <a:ea typeface="Montserrat Medium"/>
                <a:cs typeface="Montserrat Medium"/>
                <a:sym typeface="Montserrat Medium"/>
              </a:rPr>
              <a:t>Others: On</a:t>
            </a:r>
            <a:r>
              <a:rPr lang="en-US" b="true" sz="2499" strike="noStrike" u="none">
                <a:solidFill>
                  <a:srgbClr val="2D262A"/>
                </a:solidFill>
                <a:latin typeface="Montserrat Medium"/>
                <a:ea typeface="Montserrat Medium"/>
                <a:cs typeface="Montserrat Medium"/>
                <a:sym typeface="Montserrat Medium"/>
              </a:rPr>
              <a:t>l</a:t>
            </a:r>
            <a:r>
              <a:rPr lang="en-US" b="true" sz="2499" strike="noStrike" u="none">
                <a:solidFill>
                  <a:srgbClr val="2D262A"/>
                </a:solidFill>
                <a:latin typeface="Montserrat Medium"/>
                <a:ea typeface="Montserrat Medium"/>
                <a:cs typeface="Montserrat Medium"/>
                <a:sym typeface="Montserrat Medium"/>
              </a:rPr>
              <a:t>y analyze job descr</a:t>
            </a:r>
            <a:r>
              <a:rPr lang="en-US" b="true" sz="2499" strike="noStrike" u="none">
                <a:solidFill>
                  <a:srgbClr val="2D262A"/>
                </a:solidFill>
                <a:latin typeface="Montserrat Medium"/>
                <a:ea typeface="Montserrat Medium"/>
                <a:cs typeface="Montserrat Medium"/>
                <a:sym typeface="Montserrat Medium"/>
              </a:rPr>
              <a:t>i</a:t>
            </a:r>
            <a:r>
              <a:rPr lang="en-US" b="true" sz="2499" strike="noStrike" u="none">
                <a:solidFill>
                  <a:srgbClr val="2D262A"/>
                </a:solidFill>
                <a:latin typeface="Montserrat Medium"/>
                <a:ea typeface="Montserrat Medium"/>
                <a:cs typeface="Montserrat Medium"/>
                <a:sym typeface="Montserrat Medium"/>
              </a:rPr>
              <a:t>p</a:t>
            </a:r>
            <a:r>
              <a:rPr lang="en-US" b="true" sz="2499" strike="noStrike" u="none">
                <a:solidFill>
                  <a:srgbClr val="2D262A"/>
                </a:solidFill>
                <a:latin typeface="Montserrat Medium"/>
                <a:ea typeface="Montserrat Medium"/>
                <a:cs typeface="Montserrat Medium"/>
                <a:sym typeface="Montserrat Medium"/>
              </a:rPr>
              <a:t>t</a:t>
            </a:r>
            <a:r>
              <a:rPr lang="en-US" b="true" sz="2499" strike="noStrike" u="none">
                <a:solidFill>
                  <a:srgbClr val="2D262A"/>
                </a:solidFill>
                <a:latin typeface="Montserrat Medium"/>
                <a:ea typeface="Montserrat Medium"/>
                <a:cs typeface="Montserrat Medium"/>
                <a:sym typeface="Montserrat Medium"/>
              </a:rPr>
              <a:t>ions (</a:t>
            </a:r>
            <a:r>
              <a:rPr lang="en-US" b="true" sz="2499" strike="noStrike" u="none">
                <a:solidFill>
                  <a:srgbClr val="2D262A"/>
                </a:solidFill>
                <a:latin typeface="Montserrat Medium"/>
                <a:ea typeface="Montserrat Medium"/>
                <a:cs typeface="Montserrat Medium"/>
                <a:sym typeface="Montserrat Medium"/>
              </a:rPr>
              <a:t>t</a:t>
            </a:r>
            <a:r>
              <a:rPr lang="en-US" b="true" sz="2499" strike="noStrike" u="none">
                <a:solidFill>
                  <a:srgbClr val="2D262A"/>
                </a:solidFill>
                <a:latin typeface="Montserrat Medium"/>
                <a:ea typeface="Montserrat Medium"/>
                <a:cs typeface="Montserrat Medium"/>
                <a:sym typeface="Montserrat Medium"/>
              </a:rPr>
              <a:t>ext)</a:t>
            </a:r>
          </a:p>
          <a:p>
            <a:pPr algn="l" marL="539749" indent="-269875" lvl="1">
              <a:lnSpc>
                <a:spcPts val="3499"/>
              </a:lnSpc>
              <a:spcBef>
                <a:spcPct val="0"/>
              </a:spcBef>
              <a:buFont typeface="Arial"/>
              <a:buChar char="•"/>
            </a:pPr>
            <a:r>
              <a:rPr lang="en-US" b="true" sz="2499" strike="noStrike" u="none">
                <a:solidFill>
                  <a:srgbClr val="2D262A"/>
                </a:solidFill>
                <a:latin typeface="Montserrat Medium"/>
                <a:ea typeface="Montserrat Medium"/>
                <a:cs typeface="Montserrat Medium"/>
                <a:sym typeface="Montserrat Medium"/>
              </a:rPr>
              <a:t>W</a:t>
            </a:r>
            <a:r>
              <a:rPr lang="en-US" b="true" sz="2499" strike="noStrike" u="none">
                <a:solidFill>
                  <a:srgbClr val="2D262A"/>
                </a:solidFill>
                <a:latin typeface="Montserrat Medium"/>
                <a:ea typeface="Montserrat Medium"/>
                <a:cs typeface="Montserrat Medium"/>
                <a:sym typeface="Montserrat Medium"/>
              </a:rPr>
              <a:t>e </a:t>
            </a:r>
            <a:r>
              <a:rPr lang="en-US" b="true" sz="2499" strike="noStrike" u="none">
                <a:solidFill>
                  <a:srgbClr val="2D262A"/>
                </a:solidFill>
                <a:latin typeface="Montserrat Medium"/>
                <a:ea typeface="Montserrat Medium"/>
                <a:cs typeface="Montserrat Medium"/>
                <a:sym typeface="Montserrat Medium"/>
              </a:rPr>
              <a:t>com</a:t>
            </a:r>
            <a:r>
              <a:rPr lang="en-US" b="true" sz="2499" strike="noStrike" u="none">
                <a:solidFill>
                  <a:srgbClr val="2D262A"/>
                </a:solidFill>
                <a:latin typeface="Montserrat Medium"/>
                <a:ea typeface="Montserrat Medium"/>
                <a:cs typeface="Montserrat Medium"/>
                <a:sym typeface="Montserrat Medium"/>
              </a:rPr>
              <a:t>bi</a:t>
            </a:r>
            <a:r>
              <a:rPr lang="en-US" b="true" sz="2499" strike="noStrike" u="none">
                <a:solidFill>
                  <a:srgbClr val="2D262A"/>
                </a:solidFill>
                <a:latin typeface="Montserrat Medium"/>
                <a:ea typeface="Montserrat Medium"/>
                <a:cs typeface="Montserrat Medium"/>
                <a:sym typeface="Montserrat Medium"/>
              </a:rPr>
              <a:t>ned: Tex</a:t>
            </a:r>
            <a:r>
              <a:rPr lang="en-US" b="true" sz="2499" strike="noStrike" u="none">
                <a:solidFill>
                  <a:srgbClr val="2D262A"/>
                </a:solidFill>
                <a:latin typeface="Montserrat Medium"/>
                <a:ea typeface="Montserrat Medium"/>
                <a:cs typeface="Montserrat Medium"/>
                <a:sym typeface="Montserrat Medium"/>
              </a:rPr>
              <a:t>t </a:t>
            </a:r>
            <a:r>
              <a:rPr lang="en-US" b="true" sz="2499" strike="noStrike" u="none">
                <a:solidFill>
                  <a:srgbClr val="2D262A"/>
                </a:solidFill>
                <a:latin typeface="Montserrat Medium"/>
                <a:ea typeface="Montserrat Medium"/>
                <a:cs typeface="Montserrat Medium"/>
                <a:sym typeface="Montserrat Medium"/>
              </a:rPr>
              <a:t>+ Structured Data (company pr</a:t>
            </a:r>
            <a:r>
              <a:rPr lang="en-US" b="true" sz="2499" strike="noStrike" u="none">
                <a:solidFill>
                  <a:srgbClr val="2D262A"/>
                </a:solidFill>
                <a:latin typeface="Montserrat Medium"/>
                <a:ea typeface="Montserrat Medium"/>
                <a:cs typeface="Montserrat Medium"/>
                <a:sym typeface="Montserrat Medium"/>
              </a:rPr>
              <a:t>of</a:t>
            </a:r>
            <a:r>
              <a:rPr lang="en-US" b="true" sz="2499" strike="noStrike" u="none">
                <a:solidFill>
                  <a:srgbClr val="2D262A"/>
                </a:solidFill>
                <a:latin typeface="Montserrat Medium"/>
                <a:ea typeface="Montserrat Medium"/>
                <a:cs typeface="Montserrat Medium"/>
                <a:sym typeface="Montserrat Medium"/>
              </a:rPr>
              <a:t>iles,Company Logo</a:t>
            </a:r>
            <a:r>
              <a:rPr lang="en-US" b="true" sz="2499" strike="noStrike" u="none">
                <a:solidFill>
                  <a:srgbClr val="2D262A"/>
                </a:solidFill>
                <a:latin typeface="Montserrat Medium"/>
                <a:ea typeface="Montserrat Medium"/>
                <a:cs typeface="Montserrat Medium"/>
                <a:sym typeface="Montserrat Medium"/>
              </a:rPr>
              <a:t>)</a:t>
            </a:r>
          </a:p>
          <a:p>
            <a:pPr algn="l" marL="539749" indent="-269875" lvl="1">
              <a:lnSpc>
                <a:spcPts val="3499"/>
              </a:lnSpc>
              <a:spcBef>
                <a:spcPct val="0"/>
              </a:spcBef>
              <a:buFont typeface="Arial"/>
              <a:buChar char="•"/>
            </a:pPr>
            <a:r>
              <a:rPr lang="en-US" b="true" sz="2499" strike="noStrike" u="none">
                <a:solidFill>
                  <a:srgbClr val="2D262A"/>
                </a:solidFill>
                <a:latin typeface="Montserrat Bold"/>
                <a:ea typeface="Montserrat Bold"/>
                <a:cs typeface="Montserrat Bold"/>
                <a:sym typeface="Montserrat Bold"/>
              </a:rPr>
              <a:t>Result:</a:t>
            </a:r>
            <a:r>
              <a:rPr lang="en-US" b="true" sz="2499" strike="noStrike" u="none">
                <a:solidFill>
                  <a:srgbClr val="2D262A"/>
                </a:solidFill>
                <a:latin typeface="Montserrat Medium"/>
                <a:ea typeface="Montserrat Medium"/>
                <a:cs typeface="Montserrat Medium"/>
                <a:sym typeface="Montserrat Medium"/>
              </a:rPr>
              <a:t> </a:t>
            </a:r>
            <a:r>
              <a:rPr lang="en-US" b="true" sz="2499" strike="noStrike" u="none">
                <a:solidFill>
                  <a:srgbClr val="2D262A"/>
                </a:solidFill>
                <a:latin typeface="Montserrat Medium"/>
                <a:ea typeface="Montserrat Medium"/>
                <a:cs typeface="Montserrat Medium"/>
                <a:sym typeface="Montserrat Medium"/>
              </a:rPr>
              <a:t>Captured m</a:t>
            </a:r>
            <a:r>
              <a:rPr lang="en-US" b="true" sz="2499" strike="noStrike" u="none">
                <a:solidFill>
                  <a:srgbClr val="2D262A"/>
                </a:solidFill>
                <a:latin typeface="Montserrat Medium"/>
                <a:ea typeface="Montserrat Medium"/>
                <a:cs typeface="Montserrat Medium"/>
                <a:sym typeface="Montserrat Medium"/>
              </a:rPr>
              <a:t>o</a:t>
            </a:r>
            <a:r>
              <a:rPr lang="en-US" b="true" sz="2499" strike="noStrike" u="none">
                <a:solidFill>
                  <a:srgbClr val="2D262A"/>
                </a:solidFill>
                <a:latin typeface="Montserrat Medium"/>
                <a:ea typeface="Montserrat Medium"/>
                <a:cs typeface="Montserrat Medium"/>
                <a:sym typeface="Montserrat Medium"/>
              </a:rPr>
              <a:t>re scam</a:t>
            </a:r>
            <a:r>
              <a:rPr lang="en-US" b="true" sz="2499" strike="noStrike" u="none">
                <a:solidFill>
                  <a:srgbClr val="2D262A"/>
                </a:solidFill>
                <a:latin typeface="Montserrat Medium"/>
                <a:ea typeface="Montserrat Medium"/>
                <a:cs typeface="Montserrat Medium"/>
                <a:sym typeface="Montserrat Medium"/>
              </a:rPr>
              <a:t> </a:t>
            </a:r>
            <a:r>
              <a:rPr lang="en-US" b="true" sz="2499" strike="noStrike" u="none">
                <a:solidFill>
                  <a:srgbClr val="2D262A"/>
                </a:solidFill>
                <a:latin typeface="Montserrat Medium"/>
                <a:ea typeface="Montserrat Medium"/>
                <a:cs typeface="Montserrat Medium"/>
                <a:sym typeface="Montserrat Medium"/>
              </a:rPr>
              <a:t>pat</a:t>
            </a:r>
            <a:r>
              <a:rPr lang="en-US" b="true" sz="2499" strike="noStrike" u="none">
                <a:solidFill>
                  <a:srgbClr val="2D262A"/>
                </a:solidFill>
                <a:latin typeface="Montserrat Medium"/>
                <a:ea typeface="Montserrat Medium"/>
                <a:cs typeface="Montserrat Medium"/>
                <a:sym typeface="Montserrat Medium"/>
              </a:rPr>
              <a:t>te</a:t>
            </a:r>
            <a:r>
              <a:rPr lang="en-US" b="true" sz="2499" strike="noStrike" u="none">
                <a:solidFill>
                  <a:srgbClr val="2D262A"/>
                </a:solidFill>
                <a:latin typeface="Montserrat Medium"/>
                <a:ea typeface="Montserrat Medium"/>
                <a:cs typeface="Montserrat Medium"/>
                <a:sym typeface="Montserrat Medium"/>
              </a:rPr>
              <a:t>rns (e.g., fake companies)</a:t>
            </a:r>
          </a:p>
          <a:p>
            <a:pPr algn="l">
              <a:lnSpc>
                <a:spcPts val="3499"/>
              </a:lnSpc>
              <a:spcBef>
                <a:spcPct val="0"/>
              </a:spcBef>
            </a:pPr>
          </a:p>
        </p:txBody>
      </p:sp>
      <p:sp>
        <p:nvSpPr>
          <p:cNvPr name="TextBox 11" id="11"/>
          <p:cNvSpPr txBox="true"/>
          <p:nvPr/>
        </p:nvSpPr>
        <p:spPr>
          <a:xfrm rot="0">
            <a:off x="6754375" y="4914963"/>
            <a:ext cx="11533625" cy="3041650"/>
          </a:xfrm>
          <a:prstGeom prst="rect">
            <a:avLst/>
          </a:prstGeom>
        </p:spPr>
        <p:txBody>
          <a:bodyPr anchor="t" rtlCol="false" tIns="0" lIns="0" bIns="0" rIns="0">
            <a:spAutoFit/>
          </a:bodyPr>
          <a:lstStyle/>
          <a:p>
            <a:pPr algn="l">
              <a:lnSpc>
                <a:spcPts val="3499"/>
              </a:lnSpc>
            </a:pPr>
            <a:r>
              <a:rPr lang="en-US" sz="2499" b="true">
                <a:solidFill>
                  <a:srgbClr val="2D262A"/>
                </a:solidFill>
                <a:latin typeface="Montserrat Bold"/>
                <a:ea typeface="Montserrat Bold"/>
                <a:cs typeface="Montserrat Bold"/>
                <a:sym typeface="Montserrat Bold"/>
              </a:rPr>
              <a:t>5-Model Shootout</a:t>
            </a:r>
          </a:p>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Others:</a:t>
            </a:r>
            <a:r>
              <a:rPr lang="en-US" b="true" sz="2499">
                <a:solidFill>
                  <a:srgbClr val="2D262A"/>
                </a:solidFill>
                <a:latin typeface="Montserrat Medium"/>
                <a:ea typeface="Montserrat Medium"/>
                <a:cs typeface="Montserrat Medium"/>
                <a:sym typeface="Montserrat Medium"/>
              </a:rPr>
              <a:t> Test 1-2 models (usually BERT or Logistic Regression)</a:t>
            </a:r>
          </a:p>
          <a:p>
            <a:pPr algn="l" marL="539749" indent="-269875" lvl="1">
              <a:lnSpc>
                <a:spcPts val="3499"/>
              </a:lnSpc>
              <a:buFont typeface="Arial"/>
              <a:buChar char="•"/>
            </a:pPr>
            <a:r>
              <a:rPr lang="en-US" b="true" sz="2499">
                <a:solidFill>
                  <a:srgbClr val="2D262A"/>
                </a:solidFill>
                <a:latin typeface="Montserrat Medium"/>
                <a:ea typeface="Montserrat Medium"/>
                <a:cs typeface="Montserrat Medium"/>
                <a:sym typeface="Montserrat Medium"/>
              </a:rPr>
              <a:t>We compared: LR, Random Forest, Naive Bayes, XGBoost + GloVe, DistilBERT</a:t>
            </a:r>
          </a:p>
          <a:p>
            <a:pPr algn="l" marL="539749" indent="-269875" lvl="1">
              <a:lnSpc>
                <a:spcPts val="3499"/>
              </a:lnSpc>
              <a:buFont typeface="Arial"/>
              <a:buChar char="•"/>
            </a:pPr>
            <a:r>
              <a:rPr lang="en-US" b="true" sz="2499">
                <a:solidFill>
                  <a:srgbClr val="2D262A"/>
                </a:solidFill>
                <a:latin typeface="Montserrat Bold"/>
                <a:ea typeface="Montserrat Bold"/>
                <a:cs typeface="Montserrat Bold"/>
                <a:sym typeface="Montserrat Bold"/>
              </a:rPr>
              <a:t>Result: </a:t>
            </a:r>
            <a:r>
              <a:rPr lang="en-US" b="true" sz="2499">
                <a:solidFill>
                  <a:srgbClr val="2D262A"/>
                </a:solidFill>
                <a:latin typeface="Montserrat Medium"/>
                <a:ea typeface="Montserrat Medium"/>
                <a:cs typeface="Montserrat Medium"/>
                <a:sym typeface="Montserrat Medium"/>
              </a:rPr>
              <a:t>Proved simpler models (Random Forest) work better than BERT here</a:t>
            </a:r>
          </a:p>
          <a:p>
            <a:pPr algn="l">
              <a:lnSpc>
                <a:spcPts val="3499"/>
              </a:lnSpc>
              <a:spcBef>
                <a:spcPct val="0"/>
              </a:spcBef>
            </a:pPr>
          </a:p>
        </p:txBody>
      </p:sp>
      <p:sp>
        <p:nvSpPr>
          <p:cNvPr name="TextBox 12" id="12"/>
          <p:cNvSpPr txBox="true"/>
          <p:nvPr/>
        </p:nvSpPr>
        <p:spPr>
          <a:xfrm rot="0">
            <a:off x="433569" y="7428719"/>
            <a:ext cx="11533625" cy="2267100"/>
          </a:xfrm>
          <a:prstGeom prst="rect">
            <a:avLst/>
          </a:prstGeom>
        </p:spPr>
        <p:txBody>
          <a:bodyPr anchor="t" rtlCol="false" tIns="0" lIns="0" bIns="0" rIns="0">
            <a:spAutoFit/>
          </a:bodyPr>
          <a:lstStyle/>
          <a:p>
            <a:pPr algn="l">
              <a:lnSpc>
                <a:spcPts val="3666"/>
              </a:lnSpc>
            </a:pPr>
            <a:r>
              <a:rPr lang="en-US" sz="2619" b="true">
                <a:solidFill>
                  <a:srgbClr val="2D262A"/>
                </a:solidFill>
                <a:latin typeface="Montserrat Medium"/>
                <a:ea typeface="Montserrat Medium"/>
                <a:cs typeface="Montserrat Medium"/>
                <a:sym typeface="Montserrat Medium"/>
              </a:rPr>
              <a:t> </a:t>
            </a:r>
            <a:r>
              <a:rPr lang="en-US" sz="2619" b="true">
                <a:solidFill>
                  <a:srgbClr val="2D262A"/>
                </a:solidFill>
                <a:latin typeface="Montserrat Bold"/>
                <a:ea typeface="Montserrat Bold"/>
                <a:cs typeface="Montserrat Bold"/>
                <a:sym typeface="Montserrat Bold"/>
              </a:rPr>
              <a:t>Explainability Built-In</a:t>
            </a:r>
          </a:p>
          <a:p>
            <a:pPr algn="l" marL="565465" indent="-282732" lvl="1">
              <a:lnSpc>
                <a:spcPts val="3666"/>
              </a:lnSpc>
              <a:buFont typeface="Arial"/>
              <a:buChar char="•"/>
            </a:pPr>
            <a:r>
              <a:rPr lang="en-US" b="true" sz="2619">
                <a:solidFill>
                  <a:srgbClr val="2D262A"/>
                </a:solidFill>
                <a:latin typeface="Montserrat Medium"/>
                <a:ea typeface="Montserrat Medium"/>
                <a:cs typeface="Montserrat Medium"/>
                <a:sym typeface="Montserrat Medium"/>
              </a:rPr>
              <a:t>Others: Just give "fraud/not fraud" results</a:t>
            </a:r>
          </a:p>
          <a:p>
            <a:pPr algn="l" marL="565465" indent="-282732" lvl="1">
              <a:lnSpc>
                <a:spcPts val="3666"/>
              </a:lnSpc>
              <a:buFont typeface="Arial"/>
              <a:buChar char="•"/>
            </a:pPr>
            <a:r>
              <a:rPr lang="en-US" b="true" sz="2619">
                <a:solidFill>
                  <a:srgbClr val="2D262A"/>
                </a:solidFill>
                <a:latin typeface="Montserrat Medium"/>
                <a:ea typeface="Montserrat Medium"/>
                <a:cs typeface="Montserrat Medium"/>
                <a:sym typeface="Montserrat Medium"/>
              </a:rPr>
              <a:t>We added: LIME explanations, Scam Severity Score </a:t>
            </a:r>
          </a:p>
          <a:p>
            <a:pPr algn="l" marL="565465" indent="-282732" lvl="1">
              <a:lnSpc>
                <a:spcPts val="3666"/>
              </a:lnSpc>
              <a:buFont typeface="Arial"/>
              <a:buChar char="•"/>
            </a:pPr>
            <a:r>
              <a:rPr lang="en-US" b="true" sz="2619">
                <a:solidFill>
                  <a:srgbClr val="2D262A"/>
                </a:solidFill>
                <a:latin typeface="Montserrat Medium"/>
                <a:ea typeface="Montserrat Medium"/>
                <a:cs typeface="Montserrat Medium"/>
                <a:sym typeface="Montserrat Medium"/>
              </a:rPr>
              <a:t>Result: Users can trust and understand decisions</a:t>
            </a:r>
          </a:p>
          <a:p>
            <a:pPr algn="l">
              <a:lnSpc>
                <a:spcPts val="3666"/>
              </a:lnSpc>
              <a:spcBef>
                <a:spcPct val="0"/>
              </a:spcBef>
            </a:pP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250878" y="1526997"/>
            <a:ext cx="8715112" cy="206094"/>
            <a:chOff x="0" y="0"/>
            <a:chExt cx="2295338" cy="54280"/>
          </a:xfrm>
        </p:grpSpPr>
        <p:sp>
          <p:nvSpPr>
            <p:cNvPr name="Freeform 3" id="3"/>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4" id="4"/>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0" y="3249930"/>
            <a:ext cx="9675739" cy="6008370"/>
            <a:chOff x="0" y="0"/>
            <a:chExt cx="12900986" cy="8011160"/>
          </a:xfrm>
        </p:grpSpPr>
        <p:sp>
          <p:nvSpPr>
            <p:cNvPr name="Freeform 6" id="6"/>
            <p:cNvSpPr/>
            <p:nvPr/>
          </p:nvSpPr>
          <p:spPr>
            <a:xfrm flipH="false" flipV="false" rot="0">
              <a:off x="0" y="5781771"/>
              <a:ext cx="979919" cy="664633"/>
            </a:xfrm>
            <a:custGeom>
              <a:avLst/>
              <a:gdLst/>
              <a:ahLst/>
              <a:cxnLst/>
              <a:rect r="r" b="b" t="t" l="l"/>
              <a:pathLst>
                <a:path h="664633" w="979919">
                  <a:moveTo>
                    <a:pt x="0" y="0"/>
                  </a:moveTo>
                  <a:lnTo>
                    <a:pt x="979919" y="0"/>
                  </a:lnTo>
                  <a:lnTo>
                    <a:pt x="979919" y="664633"/>
                  </a:lnTo>
                  <a:lnTo>
                    <a:pt x="0" y="664633"/>
                  </a:lnTo>
                  <a:lnTo>
                    <a:pt x="0" y="0"/>
                  </a:lnTo>
                  <a:close/>
                </a:path>
              </a:pathLst>
            </a:custGeom>
            <a:blipFill>
              <a:blip r:embed="rId2"/>
              <a:stretch>
                <a:fillRect l="0" t="-14319" r="0" b="-14319"/>
              </a:stretch>
            </a:blipFill>
          </p:spPr>
        </p:sp>
        <p:sp>
          <p:nvSpPr>
            <p:cNvPr name="Freeform 7" id="7"/>
            <p:cNvSpPr/>
            <p:nvPr/>
          </p:nvSpPr>
          <p:spPr>
            <a:xfrm flipH="false" flipV="false" rot="0">
              <a:off x="218162" y="0"/>
              <a:ext cx="761757" cy="763145"/>
            </a:xfrm>
            <a:custGeom>
              <a:avLst/>
              <a:gdLst/>
              <a:ahLst/>
              <a:cxnLst/>
              <a:rect r="r" b="b" t="t" l="l"/>
              <a:pathLst>
                <a:path h="763145" w="761757">
                  <a:moveTo>
                    <a:pt x="0" y="0"/>
                  </a:moveTo>
                  <a:lnTo>
                    <a:pt x="761757" y="0"/>
                  </a:lnTo>
                  <a:lnTo>
                    <a:pt x="761757" y="763145"/>
                  </a:lnTo>
                  <a:lnTo>
                    <a:pt x="0" y="76314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8" id="8"/>
            <p:cNvSpPr txBox="true"/>
            <p:nvPr/>
          </p:nvSpPr>
          <p:spPr>
            <a:xfrm rot="0">
              <a:off x="979919" y="-47625"/>
              <a:ext cx="11921067" cy="8058785"/>
            </a:xfrm>
            <a:prstGeom prst="rect">
              <a:avLst/>
            </a:prstGeom>
          </p:spPr>
          <p:txBody>
            <a:bodyPr anchor="t" rtlCol="false" tIns="0" lIns="0" bIns="0" rIns="0">
              <a:spAutoFit/>
            </a:bodyPr>
            <a:lstStyle/>
            <a:p>
              <a:pPr algn="l">
                <a:lnSpc>
                  <a:spcPts val="4199"/>
                </a:lnSpc>
              </a:pPr>
              <a:r>
                <a:rPr lang="en-US" sz="2999" b="true">
                  <a:solidFill>
                    <a:srgbClr val="2D262A"/>
                  </a:solidFill>
                  <a:latin typeface="Montserrat Medium"/>
                  <a:ea typeface="Montserrat Medium"/>
                  <a:cs typeface="Montserrat Medium"/>
                  <a:sym typeface="Montserrat Medium"/>
                </a:rPr>
                <a:t> </a:t>
              </a:r>
              <a:r>
                <a:rPr lang="en-US" sz="2999" b="true">
                  <a:solidFill>
                    <a:srgbClr val="2D262A"/>
                  </a:solidFill>
                  <a:latin typeface="Montserrat Bold"/>
                  <a:ea typeface="Montserrat Bold"/>
                  <a:cs typeface="Montserrat Bold"/>
                  <a:sym typeface="Montserrat Bold"/>
                </a:rPr>
                <a:t>Data Preprocessing</a:t>
              </a:r>
            </a:p>
            <a:p>
              <a:pPr algn="l" marL="518160" indent="-259080" lvl="1">
                <a:lnSpc>
                  <a:spcPts val="3359"/>
                </a:lnSpc>
                <a:buFont typeface="Arial"/>
                <a:buChar char="•"/>
              </a:pPr>
              <a:r>
                <a:rPr lang="en-US" b="true" sz="2400">
                  <a:solidFill>
                    <a:srgbClr val="2D262A"/>
                  </a:solidFill>
                  <a:latin typeface="Montserrat Medium"/>
                  <a:ea typeface="Montserrat Medium"/>
                  <a:cs typeface="Montserrat Medium"/>
                  <a:sym typeface="Montserrat Medium"/>
                </a:rPr>
                <a:t>Missing Value Handling</a:t>
              </a:r>
            </a:p>
            <a:p>
              <a:pPr algn="l" marL="1036320" indent="-345440" lvl="2">
                <a:lnSpc>
                  <a:spcPts val="3359"/>
                </a:lnSpc>
                <a:buFont typeface="Arial"/>
                <a:buChar char="⚬"/>
              </a:pPr>
              <a:r>
                <a:rPr lang="en-US" b="true" sz="2400">
                  <a:solidFill>
                    <a:srgbClr val="2D262A"/>
                  </a:solidFill>
                  <a:latin typeface="Montserrat Medium"/>
                  <a:ea typeface="Montserrat Medium"/>
                  <a:cs typeface="Montserrat Medium"/>
                  <a:sym typeface="Montserrat Medium"/>
                </a:rPr>
                <a:t>Dropped rows with &gt;30% missing data where fraudulent = 0</a:t>
              </a:r>
            </a:p>
            <a:p>
              <a:pPr algn="l" marL="1036320" indent="-345440" lvl="2">
                <a:lnSpc>
                  <a:spcPts val="3359"/>
                </a:lnSpc>
                <a:buFont typeface="Arial"/>
                <a:buChar char="⚬"/>
              </a:pPr>
              <a:r>
                <a:rPr lang="en-US" b="true" sz="2400">
                  <a:solidFill>
                    <a:srgbClr val="2D262A"/>
                  </a:solidFill>
                  <a:latin typeface="Montserrat Medium"/>
                  <a:ea typeface="Montserrat Medium"/>
                  <a:cs typeface="Montserrat Medium"/>
                  <a:sym typeface="Montserrat Medium"/>
                </a:rPr>
                <a:t>Filled:</a:t>
              </a:r>
            </a:p>
            <a:p>
              <a:pPr algn="l" marL="1554480" indent="-388620" lvl="3">
                <a:lnSpc>
                  <a:spcPts val="3359"/>
                </a:lnSpc>
                <a:buFont typeface="Arial"/>
                <a:buChar char="￭"/>
              </a:pPr>
              <a:r>
                <a:rPr lang="en-US" b="true" sz="2400">
                  <a:solidFill>
                    <a:srgbClr val="2D262A"/>
                  </a:solidFill>
                  <a:latin typeface="Montserrat Medium"/>
                  <a:ea typeface="Montserrat Medium"/>
                  <a:cs typeface="Montserrat Medium"/>
                  <a:sym typeface="Montserrat Medium"/>
                </a:rPr>
                <a:t>Text columns → 'Missing'</a:t>
              </a:r>
            </a:p>
            <a:p>
              <a:pPr algn="l" marL="1554480" indent="-388620" lvl="3">
                <a:lnSpc>
                  <a:spcPts val="3359"/>
                </a:lnSpc>
                <a:buFont typeface="Arial"/>
                <a:buChar char="￭"/>
              </a:pPr>
              <a:r>
                <a:rPr lang="en-US" b="true" sz="2400">
                  <a:solidFill>
                    <a:srgbClr val="2D262A"/>
                  </a:solidFill>
                  <a:latin typeface="Montserrat Medium"/>
                  <a:ea typeface="Montserrat Medium"/>
                  <a:cs typeface="Montserrat Medium"/>
                  <a:sym typeface="Montserrat Medium"/>
                </a:rPr>
                <a:t>Categorical columns → 'Unknown', 'Not Specified'</a:t>
              </a:r>
            </a:p>
            <a:p>
              <a:pPr algn="l" marL="1036320" indent="-345440" lvl="2">
                <a:lnSpc>
                  <a:spcPts val="3359"/>
                </a:lnSpc>
                <a:buFont typeface="Arial"/>
                <a:buChar char="⚬"/>
              </a:pPr>
              <a:r>
                <a:rPr lang="en-US" b="true" sz="2400">
                  <a:solidFill>
                    <a:srgbClr val="2D262A"/>
                  </a:solidFill>
                  <a:latin typeface="Montserrat Medium"/>
                  <a:ea typeface="Montserrat Medium"/>
                  <a:cs typeface="Montserrat Medium"/>
                  <a:sym typeface="Montserrat Medium"/>
                </a:rPr>
                <a:t>Dropped sparse columns: department, salary_range, location, job_id</a:t>
              </a:r>
            </a:p>
            <a:p>
              <a:pPr algn="l">
                <a:lnSpc>
                  <a:spcPts val="4199"/>
                </a:lnSpc>
              </a:pPr>
              <a:r>
                <a:rPr lang="en-US" sz="2999" b="true">
                  <a:solidFill>
                    <a:srgbClr val="2D262A"/>
                  </a:solidFill>
                  <a:latin typeface="Montserrat Bold"/>
                  <a:ea typeface="Montserrat Bold"/>
                  <a:cs typeface="Montserrat Bold"/>
                  <a:sym typeface="Montserrat Bold"/>
                </a:rPr>
                <a:t> </a:t>
              </a:r>
              <a:r>
                <a:rPr lang="en-US" sz="2999" b="true">
                  <a:solidFill>
                    <a:srgbClr val="2D262A"/>
                  </a:solidFill>
                  <a:latin typeface="Montserrat Bold"/>
                  <a:ea typeface="Montserrat Bold"/>
                  <a:cs typeface="Montserrat Bold"/>
                  <a:sym typeface="Montserrat Bold"/>
                </a:rPr>
                <a:t>Class Balancing</a:t>
              </a:r>
            </a:p>
            <a:p>
              <a:pPr algn="l" marL="518160" indent="-259080" lvl="1">
                <a:lnSpc>
                  <a:spcPts val="3359"/>
                </a:lnSpc>
                <a:buFont typeface="Arial"/>
                <a:buChar char="•"/>
              </a:pPr>
              <a:r>
                <a:rPr lang="en-US" b="true" sz="2400">
                  <a:solidFill>
                    <a:srgbClr val="2D262A"/>
                  </a:solidFill>
                  <a:latin typeface="Montserrat Medium"/>
                  <a:ea typeface="Montserrat Medium"/>
                  <a:cs typeface="Montserrat Medium"/>
                  <a:sym typeface="Montserrat Medium"/>
                </a:rPr>
                <a:t>Original data was heavily imbalanced </a:t>
              </a:r>
            </a:p>
            <a:p>
              <a:pPr algn="l" marL="518160" indent="-259080" lvl="1">
                <a:lnSpc>
                  <a:spcPts val="3359"/>
                </a:lnSpc>
                <a:buFont typeface="Arial"/>
                <a:buChar char="•"/>
              </a:pPr>
              <a:r>
                <a:rPr lang="en-US" b="true" sz="2400">
                  <a:solidFill>
                    <a:srgbClr val="2D262A"/>
                  </a:solidFill>
                  <a:latin typeface="Montserrat Medium"/>
                  <a:ea typeface="Montserrat Medium"/>
                  <a:cs typeface="Montserrat Medium"/>
                  <a:sym typeface="Montserrat Medium"/>
                </a:rPr>
                <a:t>Applied undersampling:</a:t>
              </a:r>
            </a:p>
            <a:p>
              <a:pPr algn="l">
                <a:lnSpc>
                  <a:spcPts val="3359"/>
                </a:lnSpc>
              </a:pPr>
            </a:p>
          </p:txBody>
        </p:sp>
      </p:grpSp>
      <p:sp>
        <p:nvSpPr>
          <p:cNvPr name="TextBox 9" id="9"/>
          <p:cNvSpPr txBox="true"/>
          <p:nvPr/>
        </p:nvSpPr>
        <p:spPr>
          <a:xfrm rot="0">
            <a:off x="203200" y="2354199"/>
            <a:ext cx="12233281" cy="503555"/>
          </a:xfrm>
          <a:prstGeom prst="rect">
            <a:avLst/>
          </a:prstGeom>
        </p:spPr>
        <p:txBody>
          <a:bodyPr anchor="t" rtlCol="false" tIns="0" lIns="0" bIns="0" rIns="0">
            <a:spAutoFit/>
          </a:bodyPr>
          <a:lstStyle/>
          <a:p>
            <a:pPr algn="l">
              <a:lnSpc>
                <a:spcPts val="3759"/>
              </a:lnSpc>
            </a:pPr>
            <a:r>
              <a:rPr lang="en-US" sz="3999" b="true">
                <a:solidFill>
                  <a:srgbClr val="1211CA"/>
                </a:solidFill>
                <a:latin typeface="Montserrat Ultra-Bold"/>
                <a:ea typeface="Montserrat Ultra-Bold"/>
                <a:cs typeface="Montserrat Ultra-Bold"/>
                <a:sym typeface="Montserrat Ultra-Bold"/>
              </a:rPr>
              <a:t>Data Preprocessing &amp; Class Balancing</a:t>
            </a:r>
          </a:p>
        </p:txBody>
      </p:sp>
      <p:grpSp>
        <p:nvGrpSpPr>
          <p:cNvPr name="Group 10" id="10"/>
          <p:cNvGrpSpPr/>
          <p:nvPr/>
        </p:nvGrpSpPr>
        <p:grpSpPr>
          <a:xfrm rot="0">
            <a:off x="10717008" y="480517"/>
            <a:ext cx="6404787" cy="4278128"/>
            <a:chOff x="0" y="0"/>
            <a:chExt cx="1216843" cy="812800"/>
          </a:xfrm>
        </p:grpSpPr>
        <p:sp>
          <p:nvSpPr>
            <p:cNvPr name="Freeform 11" id="11"/>
            <p:cNvSpPr/>
            <p:nvPr/>
          </p:nvSpPr>
          <p:spPr>
            <a:xfrm flipH="false" flipV="false" rot="0">
              <a:off x="0" y="0"/>
              <a:ext cx="1216843" cy="812800"/>
            </a:xfrm>
            <a:custGeom>
              <a:avLst/>
              <a:gdLst/>
              <a:ahLst/>
              <a:cxnLst/>
              <a:rect r="r" b="b" t="t" l="l"/>
              <a:pathLst>
                <a:path h="812800" w="1216843">
                  <a:moveTo>
                    <a:pt x="60439" y="0"/>
                  </a:moveTo>
                  <a:lnTo>
                    <a:pt x="1156405" y="0"/>
                  </a:lnTo>
                  <a:cubicBezTo>
                    <a:pt x="1189784" y="0"/>
                    <a:pt x="1216843" y="27059"/>
                    <a:pt x="1216843" y="60439"/>
                  </a:cubicBezTo>
                  <a:lnTo>
                    <a:pt x="1216843" y="752361"/>
                  </a:lnTo>
                  <a:cubicBezTo>
                    <a:pt x="1216843" y="785741"/>
                    <a:pt x="1189784" y="812800"/>
                    <a:pt x="1156405" y="812800"/>
                  </a:cubicBezTo>
                  <a:lnTo>
                    <a:pt x="60439" y="812800"/>
                  </a:lnTo>
                  <a:cubicBezTo>
                    <a:pt x="27059" y="812800"/>
                    <a:pt x="0" y="785741"/>
                    <a:pt x="0" y="752361"/>
                  </a:cubicBezTo>
                  <a:lnTo>
                    <a:pt x="0" y="60439"/>
                  </a:lnTo>
                  <a:cubicBezTo>
                    <a:pt x="0" y="27059"/>
                    <a:pt x="27059" y="0"/>
                    <a:pt x="60439" y="0"/>
                  </a:cubicBezTo>
                  <a:close/>
                </a:path>
              </a:pathLst>
            </a:custGeom>
            <a:blipFill>
              <a:blip r:embed="rId5"/>
              <a:stretch>
                <a:fillRect l="0" t="0" r="0" b="-2925"/>
              </a:stretch>
            </a:blipFill>
            <a:ln w="38100" cap="rnd">
              <a:solidFill>
                <a:srgbClr val="1211CA"/>
              </a:solidFill>
              <a:prstDash val="solid"/>
              <a:round/>
            </a:ln>
          </p:spPr>
        </p:sp>
      </p:grpSp>
      <p:grpSp>
        <p:nvGrpSpPr>
          <p:cNvPr name="Group 12" id="12"/>
          <p:cNvGrpSpPr/>
          <p:nvPr/>
        </p:nvGrpSpPr>
        <p:grpSpPr>
          <a:xfrm rot="0">
            <a:off x="10717008" y="5372104"/>
            <a:ext cx="6542292" cy="4369976"/>
            <a:chOff x="0" y="0"/>
            <a:chExt cx="1216843" cy="812800"/>
          </a:xfrm>
        </p:grpSpPr>
        <p:sp>
          <p:nvSpPr>
            <p:cNvPr name="Freeform 13" id="13"/>
            <p:cNvSpPr/>
            <p:nvPr/>
          </p:nvSpPr>
          <p:spPr>
            <a:xfrm flipH="false" flipV="false" rot="0">
              <a:off x="0" y="0"/>
              <a:ext cx="1216843" cy="812800"/>
            </a:xfrm>
            <a:custGeom>
              <a:avLst/>
              <a:gdLst/>
              <a:ahLst/>
              <a:cxnLst/>
              <a:rect r="r" b="b" t="t" l="l"/>
              <a:pathLst>
                <a:path h="812800" w="1216843">
                  <a:moveTo>
                    <a:pt x="59168" y="0"/>
                  </a:moveTo>
                  <a:lnTo>
                    <a:pt x="1157675" y="0"/>
                  </a:lnTo>
                  <a:cubicBezTo>
                    <a:pt x="1173367" y="0"/>
                    <a:pt x="1188417" y="6234"/>
                    <a:pt x="1199513" y="17330"/>
                  </a:cubicBezTo>
                  <a:cubicBezTo>
                    <a:pt x="1210609" y="28426"/>
                    <a:pt x="1216843" y="43476"/>
                    <a:pt x="1216843" y="59168"/>
                  </a:cubicBezTo>
                  <a:lnTo>
                    <a:pt x="1216843" y="753632"/>
                  </a:lnTo>
                  <a:cubicBezTo>
                    <a:pt x="1216843" y="786309"/>
                    <a:pt x="1190353" y="812800"/>
                    <a:pt x="1157675" y="812800"/>
                  </a:cubicBezTo>
                  <a:lnTo>
                    <a:pt x="59168" y="812800"/>
                  </a:lnTo>
                  <a:cubicBezTo>
                    <a:pt x="26491" y="812800"/>
                    <a:pt x="0" y="786309"/>
                    <a:pt x="0" y="753632"/>
                  </a:cubicBezTo>
                  <a:lnTo>
                    <a:pt x="0" y="59168"/>
                  </a:lnTo>
                  <a:cubicBezTo>
                    <a:pt x="0" y="26491"/>
                    <a:pt x="26491" y="0"/>
                    <a:pt x="59168" y="0"/>
                  </a:cubicBezTo>
                  <a:close/>
                </a:path>
              </a:pathLst>
            </a:custGeom>
            <a:blipFill>
              <a:blip r:embed="rId6"/>
              <a:stretch>
                <a:fillRect l="0" t="-1462" r="0" b="-1462"/>
              </a:stretch>
            </a:blipFill>
            <a:ln w="38100" cap="rnd">
              <a:solidFill>
                <a:srgbClr val="1211CA"/>
              </a:solidFill>
              <a:prstDash val="solid"/>
              <a:round/>
            </a:ln>
          </p:spPr>
        </p:sp>
      </p:grpSp>
      <p:sp>
        <p:nvSpPr>
          <p:cNvPr name="TextBox 14" id="14"/>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7</a:t>
            </a:r>
          </a:p>
        </p:txBody>
      </p:sp>
      <p:sp>
        <p:nvSpPr>
          <p:cNvPr name="TextBox 15" id="15"/>
          <p:cNvSpPr txBox="true"/>
          <p:nvPr/>
        </p:nvSpPr>
        <p:spPr>
          <a:xfrm rot="0">
            <a:off x="-214223"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a:t>
            </a:r>
          </a:p>
        </p:txBody>
      </p:sp>
      <p:sp>
        <p:nvSpPr>
          <p:cNvPr name="Freeform 16" id="16"/>
          <p:cNvSpPr/>
          <p:nvPr/>
        </p:nvSpPr>
        <p:spPr>
          <a:xfrm flipH="false" flipV="false" rot="0">
            <a:off x="-10082592" y="2553589"/>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7">
              <a:alphaModFix amt="16000"/>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50878" y="2742463"/>
            <a:ext cx="8715112" cy="7099253"/>
            <a:chOff x="0" y="0"/>
            <a:chExt cx="11620150" cy="9465671"/>
          </a:xfrm>
        </p:grpSpPr>
        <p:sp>
          <p:nvSpPr>
            <p:cNvPr name="Freeform 7" id="7"/>
            <p:cNvSpPr/>
            <p:nvPr/>
          </p:nvSpPr>
          <p:spPr>
            <a:xfrm flipH="false" flipV="false" rot="0">
              <a:off x="0" y="2542152"/>
              <a:ext cx="742031" cy="920348"/>
            </a:xfrm>
            <a:custGeom>
              <a:avLst/>
              <a:gdLst/>
              <a:ahLst/>
              <a:cxnLst/>
              <a:rect r="r" b="b" t="t" l="l"/>
              <a:pathLst>
                <a:path h="920348" w="742031">
                  <a:moveTo>
                    <a:pt x="0" y="0"/>
                  </a:moveTo>
                  <a:lnTo>
                    <a:pt x="742031" y="0"/>
                  </a:lnTo>
                  <a:lnTo>
                    <a:pt x="742031" y="920349"/>
                  </a:lnTo>
                  <a:lnTo>
                    <a:pt x="0" y="9203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0" y="5649633"/>
              <a:ext cx="850456" cy="767536"/>
            </a:xfrm>
            <a:custGeom>
              <a:avLst/>
              <a:gdLst/>
              <a:ahLst/>
              <a:cxnLst/>
              <a:rect r="r" b="b" t="t" l="l"/>
              <a:pathLst>
                <a:path h="767536" w="850456">
                  <a:moveTo>
                    <a:pt x="0" y="0"/>
                  </a:moveTo>
                  <a:lnTo>
                    <a:pt x="850456" y="0"/>
                  </a:lnTo>
                  <a:lnTo>
                    <a:pt x="850456" y="767536"/>
                  </a:lnTo>
                  <a:lnTo>
                    <a:pt x="0" y="76753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9" id="9"/>
            <p:cNvSpPr/>
            <p:nvPr/>
          </p:nvSpPr>
          <p:spPr>
            <a:xfrm flipH="false" flipV="false" rot="0">
              <a:off x="0" y="0"/>
              <a:ext cx="850456" cy="984609"/>
            </a:xfrm>
            <a:custGeom>
              <a:avLst/>
              <a:gdLst/>
              <a:ahLst/>
              <a:cxnLst/>
              <a:rect r="r" b="b" t="t" l="l"/>
              <a:pathLst>
                <a:path h="984609" w="850456">
                  <a:moveTo>
                    <a:pt x="0" y="0"/>
                  </a:moveTo>
                  <a:lnTo>
                    <a:pt x="850456" y="0"/>
                  </a:lnTo>
                  <a:lnTo>
                    <a:pt x="850456" y="984609"/>
                  </a:lnTo>
                  <a:lnTo>
                    <a:pt x="0" y="98460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0" id="10"/>
            <p:cNvSpPr txBox="true"/>
            <p:nvPr/>
          </p:nvSpPr>
          <p:spPr>
            <a:xfrm rot="0">
              <a:off x="996264" y="122146"/>
              <a:ext cx="10623885" cy="9343525"/>
            </a:xfrm>
            <a:prstGeom prst="rect">
              <a:avLst/>
            </a:prstGeom>
          </p:spPr>
          <p:txBody>
            <a:bodyPr anchor="t" rtlCol="false" tIns="0" lIns="0" bIns="0" rIns="0">
              <a:spAutoFit/>
            </a:bodyPr>
            <a:lstStyle/>
            <a:p>
              <a:pPr algn="l">
                <a:lnSpc>
                  <a:spcPts val="3119"/>
                </a:lnSpc>
              </a:pPr>
              <a:r>
                <a:rPr lang="en-US" sz="2227" b="true">
                  <a:solidFill>
                    <a:srgbClr val="2D262A"/>
                  </a:solidFill>
                  <a:latin typeface="Montserrat Bold"/>
                  <a:ea typeface="Montserrat Bold"/>
                  <a:cs typeface="Montserrat Bold"/>
                  <a:sym typeface="Montserrat Bold"/>
                </a:rPr>
                <a:t>Numerical Features</a:t>
              </a:r>
            </a:p>
            <a:p>
              <a:pPr algn="l" marL="481017" indent="-240509" lvl="1">
                <a:lnSpc>
                  <a:spcPts val="3119"/>
                </a:lnSpc>
                <a:buFont typeface="Arial"/>
                <a:buChar char="•"/>
              </a:pPr>
              <a:r>
                <a:rPr lang="en-US" b="true" sz="2227">
                  <a:solidFill>
                    <a:srgbClr val="2D262A"/>
                  </a:solidFill>
                  <a:latin typeface="Montserrat Medium"/>
                  <a:ea typeface="Montserrat Medium"/>
                  <a:cs typeface="Montserrat Medium"/>
                  <a:sym typeface="Montserrat Medium"/>
                </a:rPr>
                <a:t>Scaled with MinMaxScaler</a:t>
              </a:r>
            </a:p>
            <a:p>
              <a:pPr algn="l" marL="481017" indent="-240509" lvl="1">
                <a:lnSpc>
                  <a:spcPts val="3119"/>
                </a:lnSpc>
                <a:buFont typeface="Arial"/>
                <a:buChar char="•"/>
              </a:pPr>
              <a:r>
                <a:rPr lang="en-US" b="true" sz="2227">
                  <a:solidFill>
                    <a:srgbClr val="2D262A"/>
                  </a:solidFill>
                  <a:latin typeface="Montserrat Medium"/>
                  <a:ea typeface="Montserrat Medium"/>
                  <a:cs typeface="Montserrat Medium"/>
                  <a:sym typeface="Montserrat Medium"/>
                </a:rPr>
                <a:t>Feature selection:</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Mutual Information (LR, NB)</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SelectKBest (RF)</a:t>
              </a:r>
            </a:p>
            <a:p>
              <a:pPr algn="l">
                <a:lnSpc>
                  <a:spcPts val="3119"/>
                </a:lnSpc>
              </a:pPr>
              <a:r>
                <a:rPr lang="en-US" sz="2227" b="true">
                  <a:solidFill>
                    <a:srgbClr val="2D262A"/>
                  </a:solidFill>
                  <a:latin typeface="Montserrat Bold"/>
                  <a:ea typeface="Montserrat Bold"/>
                  <a:cs typeface="Montserrat Bold"/>
                  <a:sym typeface="Montserrat Bold"/>
                </a:rPr>
                <a:t>Categorical Features</a:t>
              </a:r>
            </a:p>
            <a:p>
              <a:pPr algn="l" marL="481017" indent="-240509" lvl="1">
                <a:lnSpc>
                  <a:spcPts val="3119"/>
                </a:lnSpc>
                <a:buFont typeface="Arial"/>
                <a:buChar char="•"/>
              </a:pPr>
              <a:r>
                <a:rPr lang="en-US" b="true" sz="2227">
                  <a:solidFill>
                    <a:srgbClr val="2D262A"/>
                  </a:solidFill>
                  <a:latin typeface="Montserrat Medium"/>
                  <a:ea typeface="Montserrat Medium"/>
                  <a:cs typeface="Montserrat Medium"/>
                  <a:sym typeface="Montserrat Medium"/>
                </a:rPr>
                <a:t>Encoding:</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Target Encoding (LR, NB, XGBoost)</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One-Hot Encoding (Random Forest)</a:t>
              </a:r>
            </a:p>
            <a:p>
              <a:pPr algn="l" marL="481017" indent="-240509" lvl="1">
                <a:lnSpc>
                  <a:spcPts val="3119"/>
                </a:lnSpc>
                <a:buFont typeface="Arial"/>
                <a:buChar char="•"/>
              </a:pPr>
              <a:r>
                <a:rPr lang="en-US" b="true" sz="2227">
                  <a:solidFill>
                    <a:srgbClr val="2D262A"/>
                  </a:solidFill>
                  <a:latin typeface="Montserrat Medium"/>
                  <a:ea typeface="Montserrat Medium"/>
                  <a:cs typeface="Montserrat Medium"/>
                  <a:sym typeface="Montserrat Medium"/>
                </a:rPr>
                <a:t>Feature selection:</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Chi-Square (NB), MI (LR), SelectKBest (RF)</a:t>
              </a:r>
            </a:p>
            <a:p>
              <a:pPr algn="l">
                <a:lnSpc>
                  <a:spcPts val="3119"/>
                </a:lnSpc>
              </a:pPr>
              <a:r>
                <a:rPr lang="en-US" sz="2227" b="true">
                  <a:solidFill>
                    <a:srgbClr val="2D262A"/>
                  </a:solidFill>
                  <a:latin typeface="Montserrat Medium"/>
                  <a:ea typeface="Montserrat Medium"/>
                  <a:cs typeface="Montserrat Medium"/>
                  <a:sym typeface="Montserrat Medium"/>
                </a:rPr>
                <a:t> </a:t>
              </a:r>
              <a:r>
                <a:rPr lang="en-US" sz="2227" b="true">
                  <a:solidFill>
                    <a:srgbClr val="2D262A"/>
                  </a:solidFill>
                  <a:latin typeface="Montserrat Bold"/>
                  <a:ea typeface="Montserrat Bold"/>
                  <a:cs typeface="Montserrat Bold"/>
                  <a:sym typeface="Montserrat Bold"/>
                </a:rPr>
                <a:t>Text Features</a:t>
              </a:r>
            </a:p>
            <a:p>
              <a:pPr algn="l" marL="481017" indent="-240509" lvl="1">
                <a:lnSpc>
                  <a:spcPts val="3119"/>
                </a:lnSpc>
                <a:buFont typeface="Arial"/>
                <a:buChar char="•"/>
              </a:pPr>
              <a:r>
                <a:rPr lang="en-US" b="true" sz="2227">
                  <a:solidFill>
                    <a:srgbClr val="2D262A"/>
                  </a:solidFill>
                  <a:latin typeface="Montserrat Medium"/>
                  <a:ea typeface="Montserrat Medium"/>
                  <a:cs typeface="Montserrat Medium"/>
                  <a:sym typeface="Montserrat Medium"/>
                </a:rPr>
                <a:t>Preprocessed (already covered in earlier slide)</a:t>
              </a:r>
            </a:p>
            <a:p>
              <a:pPr algn="l" marL="481017" indent="-240509" lvl="1">
                <a:lnSpc>
                  <a:spcPts val="3119"/>
                </a:lnSpc>
                <a:buFont typeface="Arial"/>
                <a:buChar char="•"/>
              </a:pPr>
              <a:r>
                <a:rPr lang="en-US" b="true" sz="2227">
                  <a:solidFill>
                    <a:srgbClr val="2D262A"/>
                  </a:solidFill>
                  <a:latin typeface="Montserrat Medium"/>
                  <a:ea typeface="Montserrat Medium"/>
                  <a:cs typeface="Montserrat Medium"/>
                  <a:sym typeface="Montserrat Medium"/>
                </a:rPr>
                <a:t>Vectorized using:</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TF-IDF (Logistic Regression, NB, RF)</a:t>
              </a:r>
            </a:p>
            <a:p>
              <a:pPr algn="l" marL="962034" indent="-320678" lvl="2">
                <a:lnSpc>
                  <a:spcPts val="3119"/>
                </a:lnSpc>
                <a:buFont typeface="Arial"/>
                <a:buChar char="⚬"/>
              </a:pPr>
              <a:r>
                <a:rPr lang="en-US" b="true" sz="2227">
                  <a:solidFill>
                    <a:srgbClr val="2D262A"/>
                  </a:solidFill>
                  <a:latin typeface="Montserrat Medium"/>
                  <a:ea typeface="Montserrat Medium"/>
                  <a:cs typeface="Montserrat Medium"/>
                  <a:sym typeface="Montserrat Medium"/>
                </a:rPr>
                <a:t>GloVe Embeddings (XGBoost)</a:t>
              </a:r>
            </a:p>
            <a:p>
              <a:pPr algn="l" marL="962034" indent="-320678" lvl="2">
                <a:lnSpc>
                  <a:spcPts val="3119"/>
                </a:lnSpc>
                <a:buFont typeface="Arial"/>
                <a:buChar char="⚬"/>
              </a:pPr>
              <a:r>
                <a:rPr lang="en-US" sz="2227">
                  <a:solidFill>
                    <a:srgbClr val="2D262A"/>
                  </a:solidFill>
                  <a:latin typeface="Montserrat"/>
                  <a:ea typeface="Montserrat"/>
                  <a:cs typeface="Montserrat"/>
                  <a:sym typeface="Montserrat"/>
                </a:rPr>
                <a:t>DistilBERT</a:t>
              </a:r>
            </a:p>
            <a:p>
              <a:pPr algn="l">
                <a:lnSpc>
                  <a:spcPts val="3119"/>
                </a:lnSpc>
              </a:pPr>
            </a:p>
          </p:txBody>
        </p:sp>
      </p:grpSp>
      <p:sp>
        <p:nvSpPr>
          <p:cNvPr name="Freeform 11" id="11"/>
          <p:cNvSpPr/>
          <p:nvPr/>
        </p:nvSpPr>
        <p:spPr>
          <a:xfrm flipH="false" flipV="false" rot="0">
            <a:off x="6986741" y="2599588"/>
            <a:ext cx="11301259" cy="4407491"/>
          </a:xfrm>
          <a:custGeom>
            <a:avLst/>
            <a:gdLst/>
            <a:ahLst/>
            <a:cxnLst/>
            <a:rect r="r" b="b" t="t" l="l"/>
            <a:pathLst>
              <a:path h="4407491" w="11301259">
                <a:moveTo>
                  <a:pt x="0" y="0"/>
                </a:moveTo>
                <a:lnTo>
                  <a:pt x="11301259" y="0"/>
                </a:lnTo>
                <a:lnTo>
                  <a:pt x="11301259" y="4407491"/>
                </a:lnTo>
                <a:lnTo>
                  <a:pt x="0" y="4407491"/>
                </a:lnTo>
                <a:lnTo>
                  <a:pt x="0" y="0"/>
                </a:lnTo>
                <a:close/>
              </a:path>
            </a:pathLst>
          </a:custGeom>
          <a:blipFill>
            <a:blip r:embed="rId11"/>
            <a:stretch>
              <a:fillRect l="0" t="0" r="0" b="0"/>
            </a:stretch>
          </a:blipFill>
        </p:spPr>
      </p:sp>
      <p:sp>
        <p:nvSpPr>
          <p:cNvPr name="TextBox 12" id="12"/>
          <p:cNvSpPr txBox="true"/>
          <p:nvPr/>
        </p:nvSpPr>
        <p:spPr>
          <a:xfrm rot="0">
            <a:off x="250878" y="2096033"/>
            <a:ext cx="12233281" cy="503555"/>
          </a:xfrm>
          <a:prstGeom prst="rect">
            <a:avLst/>
          </a:prstGeom>
        </p:spPr>
        <p:txBody>
          <a:bodyPr anchor="t" rtlCol="false" tIns="0" lIns="0" bIns="0" rIns="0">
            <a:spAutoFit/>
          </a:bodyPr>
          <a:lstStyle/>
          <a:p>
            <a:pPr algn="l">
              <a:lnSpc>
                <a:spcPts val="3759"/>
              </a:lnSpc>
            </a:pPr>
            <a:r>
              <a:rPr lang="en-US" sz="3999" b="true">
                <a:solidFill>
                  <a:srgbClr val="1211CA"/>
                </a:solidFill>
                <a:latin typeface="Montserrat Ultra-Bold"/>
                <a:ea typeface="Montserrat Ultra-Bold"/>
                <a:cs typeface="Montserrat Ultra-Bold"/>
                <a:sym typeface="Montserrat Ultra-Bold"/>
              </a:rPr>
              <a:t>Feature Engineering &amp; Selection</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8</a:t>
            </a:r>
          </a:p>
        </p:txBody>
      </p:sp>
      <p:sp>
        <p:nvSpPr>
          <p:cNvPr name="TextBox 14" id="14"/>
          <p:cNvSpPr txBox="true"/>
          <p:nvPr/>
        </p:nvSpPr>
        <p:spPr>
          <a:xfrm rot="0">
            <a:off x="-214223"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a:t>
            </a:r>
          </a:p>
        </p:txBody>
      </p:sp>
      <p:sp>
        <p:nvSpPr>
          <p:cNvPr name="TextBox 15" id="15"/>
          <p:cNvSpPr txBox="true"/>
          <p:nvPr/>
        </p:nvSpPr>
        <p:spPr>
          <a:xfrm rot="0">
            <a:off x="14960974" y="7202233"/>
            <a:ext cx="3016210" cy="1470660"/>
          </a:xfrm>
          <a:prstGeom prst="rect">
            <a:avLst/>
          </a:prstGeom>
        </p:spPr>
        <p:txBody>
          <a:bodyPr anchor="t" rtlCol="false" tIns="0" lIns="0" bIns="0" rIns="0">
            <a:spAutoFit/>
          </a:bodyPr>
          <a:lstStyle/>
          <a:p>
            <a:pPr algn="just">
              <a:lnSpc>
                <a:spcPts val="2940"/>
              </a:lnSpc>
            </a:pPr>
            <a:r>
              <a:rPr lang="en-US" sz="2100" b="true">
                <a:solidFill>
                  <a:srgbClr val="154533"/>
                </a:solidFill>
                <a:latin typeface="Montserrat Medium"/>
                <a:ea typeface="Montserrat Medium"/>
                <a:cs typeface="Montserrat Medium"/>
                <a:sym typeface="Montserrat Medium"/>
              </a:rPr>
              <a:t>Full Form</a:t>
            </a:r>
          </a:p>
          <a:p>
            <a:pPr algn="just">
              <a:lnSpc>
                <a:spcPts val="2940"/>
              </a:lnSpc>
            </a:pPr>
            <a:r>
              <a:rPr lang="en-US" sz="2100" b="true">
                <a:solidFill>
                  <a:srgbClr val="154533"/>
                </a:solidFill>
                <a:latin typeface="Montserrat Medium"/>
                <a:ea typeface="Montserrat Medium"/>
                <a:cs typeface="Montserrat Medium"/>
                <a:sym typeface="Montserrat Medium"/>
              </a:rPr>
              <a:t>LR - Linear Regression</a:t>
            </a:r>
          </a:p>
          <a:p>
            <a:pPr algn="just">
              <a:lnSpc>
                <a:spcPts val="2940"/>
              </a:lnSpc>
            </a:pPr>
            <a:r>
              <a:rPr lang="en-US" sz="2100" b="true">
                <a:solidFill>
                  <a:srgbClr val="154533"/>
                </a:solidFill>
                <a:latin typeface="Montserrat Medium"/>
                <a:ea typeface="Montserrat Medium"/>
                <a:cs typeface="Montserrat Medium"/>
                <a:sym typeface="Montserrat Medium"/>
              </a:rPr>
              <a:t>NB - Naive Bayes </a:t>
            </a:r>
          </a:p>
          <a:p>
            <a:pPr algn="just">
              <a:lnSpc>
                <a:spcPts val="2940"/>
              </a:lnSpc>
              <a:spcBef>
                <a:spcPct val="0"/>
              </a:spcBef>
            </a:pPr>
            <a:r>
              <a:rPr lang="en-US" b="true" sz="2100">
                <a:solidFill>
                  <a:srgbClr val="154533"/>
                </a:solidFill>
                <a:latin typeface="Montserrat Medium"/>
                <a:ea typeface="Montserrat Medium"/>
                <a:cs typeface="Montserrat Medium"/>
                <a:sym typeface="Montserrat Medium"/>
              </a:rPr>
              <a:t>RF - Random Forest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388932" y="1028700"/>
            <a:ext cx="9077471" cy="318910"/>
            <a:chOff x="0" y="0"/>
            <a:chExt cx="2390774" cy="83993"/>
          </a:xfrm>
        </p:grpSpPr>
        <p:sp>
          <p:nvSpPr>
            <p:cNvPr name="Freeform 4" id="4"/>
            <p:cNvSpPr/>
            <p:nvPr/>
          </p:nvSpPr>
          <p:spPr>
            <a:xfrm flipH="false" flipV="false" rot="0">
              <a:off x="0" y="0"/>
              <a:ext cx="2390774" cy="83993"/>
            </a:xfrm>
            <a:custGeom>
              <a:avLst/>
              <a:gdLst/>
              <a:ahLst/>
              <a:cxnLst/>
              <a:rect r="r" b="b" t="t" l="l"/>
              <a:pathLst>
                <a:path h="83993" w="2390774">
                  <a:moveTo>
                    <a:pt x="0" y="0"/>
                  </a:moveTo>
                  <a:lnTo>
                    <a:pt x="2390774" y="0"/>
                  </a:lnTo>
                  <a:lnTo>
                    <a:pt x="2390774" y="83993"/>
                  </a:lnTo>
                  <a:lnTo>
                    <a:pt x="0" y="83993"/>
                  </a:lnTo>
                  <a:close/>
                </a:path>
              </a:pathLst>
            </a:custGeom>
            <a:solidFill>
              <a:srgbClr val="F9B314"/>
            </a:solidFill>
          </p:spPr>
        </p:sp>
        <p:sp>
          <p:nvSpPr>
            <p:cNvPr name="TextBox 5" id="5"/>
            <p:cNvSpPr txBox="true"/>
            <p:nvPr/>
          </p:nvSpPr>
          <p:spPr>
            <a:xfrm>
              <a:off x="0" y="-38100"/>
              <a:ext cx="2390774" cy="122093"/>
            </a:xfrm>
            <a:prstGeom prst="rect">
              <a:avLst/>
            </a:prstGeom>
          </p:spPr>
          <p:txBody>
            <a:bodyPr anchor="ctr" rtlCol="false" tIns="50800" lIns="50800" bIns="50800" rIns="50800"/>
            <a:lstStyle/>
            <a:p>
              <a:pPr algn="ctr">
                <a:lnSpc>
                  <a:spcPts val="2659"/>
                </a:lnSpc>
                <a:spcBef>
                  <a:spcPct val="0"/>
                </a:spcBef>
              </a:pPr>
            </a:p>
          </p:txBody>
        </p:sp>
      </p:grpSp>
      <p:graphicFrame>
        <p:nvGraphicFramePr>
          <p:cNvPr name="Table 6" id="6"/>
          <p:cNvGraphicFramePr>
            <a:graphicFrameLocks noGrp="true"/>
          </p:cNvGraphicFramePr>
          <p:nvPr/>
        </p:nvGraphicFramePr>
        <p:xfrm>
          <a:off x="143161" y="1511222"/>
          <a:ext cx="16268287" cy="8492778"/>
        </p:xfrm>
        <a:graphic>
          <a:graphicData uri="http://schemas.openxmlformats.org/drawingml/2006/table">
            <a:tbl>
              <a:tblPr/>
              <a:tblGrid>
                <a:gridCol w="3736285"/>
                <a:gridCol w="12532003"/>
              </a:tblGrid>
              <a:tr h="1040800">
                <a:tc>
                  <a:txBody>
                    <a:bodyPr anchor="t" rtlCol="false"/>
                    <a:lstStyle/>
                    <a:p>
                      <a:pPr algn="ctr">
                        <a:lnSpc>
                          <a:spcPts val="3359"/>
                        </a:lnSpc>
                        <a:defRPr/>
                      </a:pPr>
                      <a:r>
                        <a:rPr lang="en-US" sz="2399" b="true">
                          <a:solidFill>
                            <a:srgbClr val="000000"/>
                          </a:solidFill>
                          <a:latin typeface="Canva Sans Bold"/>
                          <a:ea typeface="Canva Sans Bold"/>
                          <a:cs typeface="Canva Sans Bold"/>
                          <a:sym typeface="Canva Sans Bold"/>
                        </a:rPr>
                        <a:t>Steps</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ctr">
                        <a:lnSpc>
                          <a:spcPts val="3359"/>
                        </a:lnSpc>
                        <a:defRPr/>
                      </a:pPr>
                      <a:r>
                        <a:rPr lang="en-US" sz="2399" b="true">
                          <a:solidFill>
                            <a:srgbClr val="000000"/>
                          </a:solidFill>
                          <a:latin typeface="Canva Sans Bold"/>
                          <a:ea typeface="Canva Sans Bold"/>
                          <a:cs typeface="Canva Sans Bold"/>
                          <a:sym typeface="Canva Sans Bold"/>
                        </a:rPr>
                        <a:t>Details</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1040800">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1. Data Splitting</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 Training: 80%, 🧪 Test: 20%🔄 Stratified: Maintains class balance</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1542173">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2. Model Selection</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just">
                        <a:lnSpc>
                          <a:spcPts val="2800"/>
                        </a:lnSpc>
                        <a:defRPr/>
                      </a:pPr>
                      <a:r>
                        <a:rPr lang="en-US" sz="2000">
                          <a:solidFill>
                            <a:srgbClr val="000000"/>
                          </a:solidFill>
                          <a:latin typeface="Canva Sans"/>
                          <a:ea typeface="Canva Sans"/>
                          <a:cs typeface="Canva Sans"/>
                          <a:sym typeface="Canva Sans"/>
                        </a:rPr>
                        <a:t>⚖️ Logistic Regression: Baseline</a:t>
                      </a:r>
                      <a:r>
                        <a:rPr lang="en-US" sz="2000">
                          <a:solidFill>
                            <a:srgbClr val="000000"/>
                          </a:solidFill>
                          <a:latin typeface="Canva Sans"/>
                          <a:ea typeface="Canva Sans"/>
                          <a:cs typeface="Canva Sans"/>
                          <a:sym typeface="Canva Sans"/>
                        </a:rPr>
                        <a:t>🌲 Random Forest: Ensemble</a:t>
                      </a:r>
                      <a:endParaRPr lang="en-US" sz="1100"/>
                    </a:p>
                    <a:p>
                      <a:pPr algn="just">
                        <a:lnSpc>
                          <a:spcPts val="2800"/>
                        </a:lnSpc>
                      </a:pPr>
                      <a:r>
                        <a:rPr lang="en-US" sz="2000">
                          <a:solidFill>
                            <a:srgbClr val="000000"/>
                          </a:solidFill>
                          <a:latin typeface="Canva Sans"/>
                          <a:ea typeface="Canva Sans"/>
                          <a:cs typeface="Canva Sans"/>
                          <a:sym typeface="Canva Sans"/>
                        </a:rPr>
                        <a:t>📈 Gradient Boosting: High accuracy🔢 Naive Bayes: Text classification</a:t>
                      </a:r>
                    </a:p>
                    <a:p>
                      <a:pPr algn="just">
                        <a:lnSpc>
                          <a:spcPts val="2800"/>
                        </a:lnSpc>
                      </a:pPr>
                      <a:r>
                        <a:rPr lang="en-US" sz="2000">
                          <a:solidFill>
                            <a:srgbClr val="000000"/>
                          </a:solidFill>
                          <a:latin typeface="Canva Sans"/>
                          <a:ea typeface="Canva Sans"/>
                          <a:cs typeface="Canva Sans"/>
                          <a:sym typeface="Canva Sans"/>
                        </a:rPr>
                        <a:t> 🤖 BERT: Deep learning for NLP tasks🔄 XGBoost: High performance for structured/tabular data</a:t>
                      </a:r>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833348">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3. Cross-Validation</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 K-Fold: Train/test K times🔄 Stratified K-Fold: Class balance</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1187761">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4. Bert Model Architecture</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 DistilBERT: Fine-tuned for fake job detection🔄 Bidirectional: Left-right &amp; right-left</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833348">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Hyperparameters (Bert)</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 LR: 2e-5, 🎛️ Batch Size: 16, 🔁 Epochs: 3, 📏 Max Length: 256 tokens</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833348">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5. Hyperparameter Tuning</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 Grid Search: Exhaustive🎯 Random Search: Efficient</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r h="1181200">
                <a:tc>
                  <a:txBody>
                    <a:bodyPr anchor="t" rtlCol="false"/>
                    <a:lstStyle/>
                    <a:p>
                      <a:pPr algn="ctr">
                        <a:lnSpc>
                          <a:spcPts val="2800"/>
                        </a:lnSpc>
                        <a:defRPr/>
                      </a:pPr>
                      <a:r>
                        <a:rPr lang="en-US" sz="2000" b="true">
                          <a:solidFill>
                            <a:srgbClr val="000000"/>
                          </a:solidFill>
                          <a:latin typeface="Canva Sans Bold"/>
                          <a:ea typeface="Canva Sans Bold"/>
                          <a:cs typeface="Canva Sans Bold"/>
                          <a:sym typeface="Canva Sans Bold"/>
                        </a:rPr>
                        <a:t>6. Training Process</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c>
                  <a:txBody>
                    <a:bodyPr anchor="t" rtlCol="false"/>
                    <a:lstStyle/>
                    <a:p>
                      <a:pPr algn="l">
                        <a:lnSpc>
                          <a:spcPts val="2800"/>
                        </a:lnSpc>
                        <a:defRPr/>
                      </a:pPr>
                      <a:r>
                        <a:rPr lang="en-US" sz="2000">
                          <a:solidFill>
                            <a:srgbClr val="000000"/>
                          </a:solidFill>
                          <a:latin typeface="Canva Sans"/>
                          <a:ea typeface="Canva Sans"/>
                          <a:cs typeface="Canva Sans"/>
                          <a:sym typeface="Canva Sans"/>
                        </a:rPr>
                        <a:t>🧑‍🏫 Train: 80%,  ✅ Test: 20%🌲 Random Forest: Trees, depth📊 Gradient Boosting: LR, estim</a:t>
                      </a:r>
                      <a:endParaRPr lang="en-US" sz="1100"/>
                    </a:p>
                  </a:txBody>
                  <a:tcPr marL="190500" marR="190500" marT="190500" marB="190500" anchor="ctr">
                    <a:lnL cmpd="sng" algn="ctr" cap="flat" w="47625">
                      <a:solidFill>
                        <a:srgbClr val="F68B2B"/>
                      </a:solidFill>
                      <a:prstDash val="solid"/>
                      <a:round/>
                      <a:headEnd type="none" w="med" len="med"/>
                      <a:tailEnd type="none" w="med" len="med"/>
                    </a:lnL>
                    <a:lnR cmpd="sng" algn="ctr" cap="flat" w="47625">
                      <a:solidFill>
                        <a:srgbClr val="F68B2B"/>
                      </a:solidFill>
                      <a:prstDash val="solid"/>
                      <a:round/>
                      <a:headEnd type="none" w="med" len="med"/>
                      <a:tailEnd type="none" w="med" len="med"/>
                    </a:lnR>
                    <a:lnT cmpd="sng" algn="ctr" cap="flat" w="47625">
                      <a:solidFill>
                        <a:srgbClr val="F68B2B"/>
                      </a:solidFill>
                      <a:prstDash val="solid"/>
                      <a:round/>
                      <a:headEnd type="none" w="med" len="med"/>
                      <a:tailEnd type="none" w="med" len="med"/>
                    </a:lnT>
                    <a:lnB cmpd="sng" algn="ctr" cap="flat" w="47625">
                      <a:solidFill>
                        <a:srgbClr val="F68B2B"/>
                      </a:solidFill>
                      <a:prstDash val="solid"/>
                      <a:round/>
                      <a:headEnd type="none" w="med" len="med"/>
                      <a:tailEnd type="none" w="med" len="med"/>
                    </a:lnB>
                  </a:tcPr>
                </a:tc>
              </a:tr>
            </a:tbl>
          </a:graphicData>
        </a:graphic>
      </p:graphicFrame>
      <p:sp>
        <p:nvSpPr>
          <p:cNvPr name="TextBox 7" id="7"/>
          <p:cNvSpPr txBox="true"/>
          <p:nvPr/>
        </p:nvSpPr>
        <p:spPr>
          <a:xfrm rot="0">
            <a:off x="9291491" y="332741"/>
            <a:ext cx="8996509" cy="695959"/>
          </a:xfrm>
          <a:prstGeom prst="rect">
            <a:avLst/>
          </a:prstGeom>
        </p:spPr>
        <p:txBody>
          <a:bodyPr anchor="t" rtlCol="false" tIns="0" lIns="0" bIns="0" rIns="0">
            <a:spAutoFit/>
          </a:bodyPr>
          <a:lstStyle/>
          <a:p>
            <a:pPr algn="l">
              <a:lnSpc>
                <a:spcPts val="5169"/>
              </a:lnSpc>
            </a:pPr>
            <a:r>
              <a:rPr lang="en-US" sz="5499" b="true">
                <a:solidFill>
                  <a:srgbClr val="1211CA"/>
                </a:solidFill>
                <a:latin typeface="Montserrat Ultra-Bold"/>
                <a:ea typeface="Montserrat Ultra-Bold"/>
                <a:cs typeface="Montserrat Ultra-Bold"/>
                <a:sym typeface="Montserrat Ultra-Bold"/>
              </a:rPr>
              <a:t>Model Training Process</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9</a:t>
            </a:r>
          </a:p>
        </p:txBody>
      </p:sp>
      <p:sp>
        <p:nvSpPr>
          <p:cNvPr name="TextBox 9" id="9"/>
          <p:cNvSpPr txBox="true"/>
          <p:nvPr/>
        </p:nvSpPr>
        <p:spPr>
          <a:xfrm rot="0">
            <a:off x="-36213" y="19048"/>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 : </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5946278" y="3194118"/>
            <a:ext cx="12180940" cy="5374840"/>
          </a:xfrm>
          <a:custGeom>
            <a:avLst/>
            <a:gdLst/>
            <a:ahLst/>
            <a:cxnLst/>
            <a:rect r="r" b="b" t="t" l="l"/>
            <a:pathLst>
              <a:path h="5374840" w="12180940">
                <a:moveTo>
                  <a:pt x="0" y="0"/>
                </a:moveTo>
                <a:lnTo>
                  <a:pt x="12180940" y="0"/>
                </a:lnTo>
                <a:lnTo>
                  <a:pt x="12180940" y="5374839"/>
                </a:lnTo>
                <a:lnTo>
                  <a:pt x="0" y="5374839"/>
                </a:lnTo>
                <a:lnTo>
                  <a:pt x="0" y="0"/>
                </a:lnTo>
                <a:close/>
              </a:path>
            </a:pathLst>
          </a:custGeom>
          <a:blipFill>
            <a:blip r:embed="rId5"/>
            <a:stretch>
              <a:fillRect l="0" t="0" r="0" b="0"/>
            </a:stretch>
          </a:blipFill>
          <a:ln w="38100" cap="sq">
            <a:solidFill>
              <a:srgbClr val="000000"/>
            </a:solidFill>
            <a:prstDash val="solid"/>
            <a:miter/>
          </a:ln>
        </p:spPr>
      </p:sp>
      <p:sp>
        <p:nvSpPr>
          <p:cNvPr name="TextBox 7" id="7"/>
          <p:cNvSpPr txBox="true"/>
          <p:nvPr/>
        </p:nvSpPr>
        <p:spPr>
          <a:xfrm rot="0">
            <a:off x="111278" y="2009316"/>
            <a:ext cx="15838054" cy="695959"/>
          </a:xfrm>
          <a:prstGeom prst="rect">
            <a:avLst/>
          </a:prstGeom>
        </p:spPr>
        <p:txBody>
          <a:bodyPr anchor="t" rtlCol="false" tIns="0" lIns="0" bIns="0" rIns="0">
            <a:spAutoFit/>
          </a:bodyPr>
          <a:lstStyle/>
          <a:p>
            <a:pPr algn="l">
              <a:lnSpc>
                <a:spcPts val="5169"/>
              </a:lnSpc>
            </a:pPr>
            <a:r>
              <a:rPr lang="en-US" sz="5499" b="true">
                <a:solidFill>
                  <a:srgbClr val="1211CA"/>
                </a:solidFill>
                <a:latin typeface="Montserrat Ultra-Bold"/>
                <a:ea typeface="Montserrat Ultra-Bold"/>
                <a:cs typeface="Montserrat Ultra-Bold"/>
                <a:sym typeface="Montserrat Ultra-Bold"/>
              </a:rPr>
              <a:t>Model Evaluation - Accuracy</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10</a:t>
            </a:r>
          </a:p>
        </p:txBody>
      </p:sp>
      <p:sp>
        <p:nvSpPr>
          <p:cNvPr name="TextBox 9" id="9"/>
          <p:cNvSpPr txBox="true"/>
          <p:nvPr/>
        </p:nvSpPr>
        <p:spPr>
          <a:xfrm rot="0">
            <a:off x="111278"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 </a:t>
            </a:r>
          </a:p>
        </p:txBody>
      </p:sp>
      <p:grpSp>
        <p:nvGrpSpPr>
          <p:cNvPr name="Group 10" id="10"/>
          <p:cNvGrpSpPr/>
          <p:nvPr/>
        </p:nvGrpSpPr>
        <p:grpSpPr>
          <a:xfrm rot="0">
            <a:off x="250878" y="4061793"/>
            <a:ext cx="5281991" cy="3085303"/>
            <a:chOff x="0" y="0"/>
            <a:chExt cx="1391142" cy="812590"/>
          </a:xfrm>
        </p:grpSpPr>
        <p:sp>
          <p:nvSpPr>
            <p:cNvPr name="Freeform 11" id="11"/>
            <p:cNvSpPr/>
            <p:nvPr/>
          </p:nvSpPr>
          <p:spPr>
            <a:xfrm flipH="false" flipV="false" rot="0">
              <a:off x="0" y="0"/>
              <a:ext cx="1391142" cy="812590"/>
            </a:xfrm>
            <a:custGeom>
              <a:avLst/>
              <a:gdLst/>
              <a:ahLst/>
              <a:cxnLst/>
              <a:rect r="r" b="b" t="t" l="l"/>
              <a:pathLst>
                <a:path h="812590" w="1391142">
                  <a:moveTo>
                    <a:pt x="32246" y="0"/>
                  </a:moveTo>
                  <a:lnTo>
                    <a:pt x="1358896" y="0"/>
                  </a:lnTo>
                  <a:cubicBezTo>
                    <a:pt x="1367448" y="0"/>
                    <a:pt x="1375650" y="3397"/>
                    <a:pt x="1381697" y="9445"/>
                  </a:cubicBezTo>
                  <a:cubicBezTo>
                    <a:pt x="1387745" y="15492"/>
                    <a:pt x="1391142" y="23694"/>
                    <a:pt x="1391142" y="32246"/>
                  </a:cubicBezTo>
                  <a:lnTo>
                    <a:pt x="1391142" y="780344"/>
                  </a:lnTo>
                  <a:cubicBezTo>
                    <a:pt x="1391142" y="798153"/>
                    <a:pt x="1376705" y="812590"/>
                    <a:pt x="1358896" y="812590"/>
                  </a:cubicBezTo>
                  <a:lnTo>
                    <a:pt x="32246" y="812590"/>
                  </a:lnTo>
                  <a:cubicBezTo>
                    <a:pt x="14437" y="812590"/>
                    <a:pt x="0" y="798153"/>
                    <a:pt x="0" y="780344"/>
                  </a:cubicBezTo>
                  <a:lnTo>
                    <a:pt x="0" y="32246"/>
                  </a:lnTo>
                  <a:cubicBezTo>
                    <a:pt x="0" y="23694"/>
                    <a:pt x="3397" y="15492"/>
                    <a:pt x="9445" y="9445"/>
                  </a:cubicBezTo>
                  <a:cubicBezTo>
                    <a:pt x="15492" y="3397"/>
                    <a:pt x="23694" y="0"/>
                    <a:pt x="32246" y="0"/>
                  </a:cubicBezTo>
                  <a:close/>
                </a:path>
              </a:pathLst>
            </a:custGeom>
            <a:solidFill>
              <a:srgbClr val="FDFDFD"/>
            </a:solidFill>
            <a:ln w="38100" cap="rnd">
              <a:solidFill>
                <a:srgbClr val="F5C116"/>
              </a:solidFill>
              <a:prstDash val="solid"/>
              <a:round/>
            </a:ln>
          </p:spPr>
        </p:sp>
        <p:sp>
          <p:nvSpPr>
            <p:cNvPr name="TextBox 12" id="12"/>
            <p:cNvSpPr txBox="true"/>
            <p:nvPr/>
          </p:nvSpPr>
          <p:spPr>
            <a:xfrm>
              <a:off x="0" y="-38100"/>
              <a:ext cx="1391142" cy="850690"/>
            </a:xfrm>
            <a:prstGeom prst="rect">
              <a:avLst/>
            </a:prstGeom>
          </p:spPr>
          <p:txBody>
            <a:bodyPr anchor="ctr" rtlCol="false" tIns="50800" lIns="50800" bIns="50800" rIns="50800"/>
            <a:lstStyle/>
            <a:p>
              <a:pPr algn="ctr">
                <a:lnSpc>
                  <a:spcPts val="3499"/>
                </a:lnSpc>
              </a:pPr>
              <a:r>
                <a:rPr lang="en-US" b="true" sz="2499">
                  <a:solidFill>
                    <a:srgbClr val="000000"/>
                  </a:solidFill>
                  <a:latin typeface="Montserrat Medium"/>
                  <a:ea typeface="Montserrat Medium"/>
                  <a:cs typeface="Montserrat Medium"/>
                  <a:sym typeface="Montserrat Medium"/>
                </a:rPr>
                <a:t>Logistic Regression and Random Forest exhibit the highest accuracy (0.9759 and 0.9786), showing strong generalization across job post types.</a:t>
              </a:r>
            </a:p>
          </p:txBody>
        </p:sp>
      </p:gr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sp>
        <p:nvSpPr>
          <p:cNvPr name="Freeform 6" id="6"/>
          <p:cNvSpPr/>
          <p:nvPr/>
        </p:nvSpPr>
        <p:spPr>
          <a:xfrm flipH="false" flipV="false" rot="0">
            <a:off x="5262981" y="3308692"/>
            <a:ext cx="12682942" cy="5346191"/>
          </a:xfrm>
          <a:custGeom>
            <a:avLst/>
            <a:gdLst/>
            <a:ahLst/>
            <a:cxnLst/>
            <a:rect r="r" b="b" t="t" l="l"/>
            <a:pathLst>
              <a:path h="5346191" w="12682942">
                <a:moveTo>
                  <a:pt x="0" y="0"/>
                </a:moveTo>
                <a:lnTo>
                  <a:pt x="12682942" y="0"/>
                </a:lnTo>
                <a:lnTo>
                  <a:pt x="12682942" y="5346191"/>
                </a:lnTo>
                <a:lnTo>
                  <a:pt x="0" y="5346191"/>
                </a:lnTo>
                <a:lnTo>
                  <a:pt x="0" y="0"/>
                </a:lnTo>
                <a:close/>
              </a:path>
            </a:pathLst>
          </a:custGeom>
          <a:blipFill>
            <a:blip r:embed="rId5"/>
            <a:stretch>
              <a:fillRect l="0" t="-1153" r="0" b="-1153"/>
            </a:stretch>
          </a:blipFill>
          <a:ln w="38100" cap="sq">
            <a:solidFill>
              <a:srgbClr val="000000"/>
            </a:solidFill>
            <a:prstDash val="solid"/>
            <a:miter/>
          </a:ln>
        </p:spPr>
      </p:sp>
      <p:sp>
        <p:nvSpPr>
          <p:cNvPr name="TextBox 7" id="7"/>
          <p:cNvSpPr txBox="true"/>
          <p:nvPr/>
        </p:nvSpPr>
        <p:spPr>
          <a:xfrm rot="0">
            <a:off x="111278" y="2009316"/>
            <a:ext cx="15838054" cy="695959"/>
          </a:xfrm>
          <a:prstGeom prst="rect">
            <a:avLst/>
          </a:prstGeom>
        </p:spPr>
        <p:txBody>
          <a:bodyPr anchor="t" rtlCol="false" tIns="0" lIns="0" bIns="0" rIns="0">
            <a:spAutoFit/>
          </a:bodyPr>
          <a:lstStyle/>
          <a:p>
            <a:pPr algn="l">
              <a:lnSpc>
                <a:spcPts val="5169"/>
              </a:lnSpc>
            </a:pPr>
            <a:r>
              <a:rPr lang="en-US" sz="5499" b="true">
                <a:solidFill>
                  <a:srgbClr val="1211CA"/>
                </a:solidFill>
                <a:latin typeface="Montserrat Ultra-Bold"/>
                <a:ea typeface="Montserrat Ultra-Bold"/>
                <a:cs typeface="Montserrat Ultra-Bold"/>
                <a:sym typeface="Montserrat Ultra-Bold"/>
              </a:rPr>
              <a:t>Model Evaluation - Precision</a:t>
            </a:r>
          </a:p>
        </p:txBody>
      </p:sp>
      <p:sp>
        <p:nvSpPr>
          <p:cNvPr name="TextBox 8" id="8"/>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11</a:t>
            </a:r>
          </a:p>
        </p:txBody>
      </p:sp>
      <p:sp>
        <p:nvSpPr>
          <p:cNvPr name="TextBox 9" id="9"/>
          <p:cNvSpPr txBox="true"/>
          <p:nvPr/>
        </p:nvSpPr>
        <p:spPr>
          <a:xfrm rot="0">
            <a:off x="111278"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 </a:t>
            </a:r>
          </a:p>
        </p:txBody>
      </p:sp>
      <p:grpSp>
        <p:nvGrpSpPr>
          <p:cNvPr name="Group 10" id="10"/>
          <p:cNvGrpSpPr/>
          <p:nvPr/>
        </p:nvGrpSpPr>
        <p:grpSpPr>
          <a:xfrm rot="0">
            <a:off x="250878" y="3997170"/>
            <a:ext cx="4691027" cy="3673961"/>
            <a:chOff x="0" y="0"/>
            <a:chExt cx="6254703" cy="4898614"/>
          </a:xfrm>
        </p:grpSpPr>
        <p:grpSp>
          <p:nvGrpSpPr>
            <p:cNvPr name="Group 11" id="11"/>
            <p:cNvGrpSpPr/>
            <p:nvPr/>
          </p:nvGrpSpPr>
          <p:grpSpPr>
            <a:xfrm rot="0">
              <a:off x="0" y="0"/>
              <a:ext cx="6254703" cy="4898614"/>
              <a:chOff x="0" y="0"/>
              <a:chExt cx="1208917" cy="946810"/>
            </a:xfrm>
          </p:grpSpPr>
          <p:sp>
            <p:nvSpPr>
              <p:cNvPr name="Freeform 12" id="12"/>
              <p:cNvSpPr/>
              <p:nvPr/>
            </p:nvSpPr>
            <p:spPr>
              <a:xfrm flipH="false" flipV="false" rot="0">
                <a:off x="0" y="0"/>
                <a:ext cx="1208917" cy="946811"/>
              </a:xfrm>
              <a:custGeom>
                <a:avLst/>
                <a:gdLst/>
                <a:ahLst/>
                <a:cxnLst/>
                <a:rect r="r" b="b" t="t" l="l"/>
                <a:pathLst>
                  <a:path h="946811" w="1208917">
                    <a:moveTo>
                      <a:pt x="37106" y="0"/>
                    </a:moveTo>
                    <a:lnTo>
                      <a:pt x="1171811" y="0"/>
                    </a:lnTo>
                    <a:cubicBezTo>
                      <a:pt x="1181652" y="0"/>
                      <a:pt x="1191090" y="3909"/>
                      <a:pt x="1198049" y="10868"/>
                    </a:cubicBezTo>
                    <a:cubicBezTo>
                      <a:pt x="1205008" y="17827"/>
                      <a:pt x="1208917" y="27265"/>
                      <a:pt x="1208917" y="37106"/>
                    </a:cubicBezTo>
                    <a:lnTo>
                      <a:pt x="1208917" y="909704"/>
                    </a:lnTo>
                    <a:cubicBezTo>
                      <a:pt x="1208917" y="930197"/>
                      <a:pt x="1192304" y="946811"/>
                      <a:pt x="1171811" y="946811"/>
                    </a:cubicBezTo>
                    <a:lnTo>
                      <a:pt x="37106" y="946811"/>
                    </a:lnTo>
                    <a:cubicBezTo>
                      <a:pt x="27265" y="946811"/>
                      <a:pt x="17827" y="942901"/>
                      <a:pt x="10868" y="935942"/>
                    </a:cubicBezTo>
                    <a:cubicBezTo>
                      <a:pt x="3909" y="928984"/>
                      <a:pt x="0" y="919545"/>
                      <a:pt x="0" y="909704"/>
                    </a:cubicBezTo>
                    <a:lnTo>
                      <a:pt x="0" y="37106"/>
                    </a:lnTo>
                    <a:cubicBezTo>
                      <a:pt x="0" y="16613"/>
                      <a:pt x="16613" y="0"/>
                      <a:pt x="37106" y="0"/>
                    </a:cubicBezTo>
                    <a:close/>
                  </a:path>
                </a:pathLst>
              </a:custGeom>
              <a:solidFill>
                <a:srgbClr val="FDFDFD"/>
              </a:solidFill>
              <a:ln w="38100" cap="rnd">
                <a:solidFill>
                  <a:srgbClr val="F5C116"/>
                </a:solidFill>
                <a:prstDash val="solid"/>
                <a:round/>
              </a:ln>
            </p:spPr>
          </p:sp>
          <p:sp>
            <p:nvSpPr>
              <p:cNvPr name="TextBox 13" id="13"/>
              <p:cNvSpPr txBox="true"/>
              <p:nvPr/>
            </p:nvSpPr>
            <p:spPr>
              <a:xfrm>
                <a:off x="0" y="-38100"/>
                <a:ext cx="1208917" cy="984910"/>
              </a:xfrm>
              <a:prstGeom prst="rect">
                <a:avLst/>
              </a:prstGeom>
            </p:spPr>
            <p:txBody>
              <a:bodyPr anchor="ctr" rtlCol="false" tIns="50800" lIns="50800" bIns="50800" rIns="50800"/>
              <a:lstStyle/>
              <a:p>
                <a:pPr algn="ctr">
                  <a:lnSpc>
                    <a:spcPts val="2660"/>
                  </a:lnSpc>
                </a:pPr>
              </a:p>
            </p:txBody>
          </p:sp>
        </p:grpSp>
        <p:sp>
          <p:nvSpPr>
            <p:cNvPr name="TextBox 14" id="14"/>
            <p:cNvSpPr txBox="true"/>
            <p:nvPr/>
          </p:nvSpPr>
          <p:spPr>
            <a:xfrm rot="0">
              <a:off x="0" y="-47625"/>
              <a:ext cx="6186157" cy="4737451"/>
            </a:xfrm>
            <a:prstGeom prst="rect">
              <a:avLst/>
            </a:prstGeom>
          </p:spPr>
          <p:txBody>
            <a:bodyPr anchor="t" rtlCol="false" tIns="0" lIns="0" bIns="0" rIns="0">
              <a:spAutoFit/>
            </a:bodyPr>
            <a:lstStyle/>
            <a:p>
              <a:pPr algn="ctr">
                <a:lnSpc>
                  <a:spcPts val="3577"/>
                </a:lnSpc>
              </a:pPr>
              <a:r>
                <a:rPr lang="en-US" sz="2555">
                  <a:solidFill>
                    <a:srgbClr val="000000"/>
                  </a:solidFill>
                  <a:latin typeface="Canva Sans"/>
                  <a:ea typeface="Canva Sans"/>
                  <a:cs typeface="Canva Sans"/>
                  <a:sym typeface="Canva Sans"/>
                </a:rPr>
                <a:t>Logistic Regression maintains the highest precision (0.9820), closely followed by Random Forest (0.9765), meaning these models excel in identifying true fraudulent job posts while avoiding false positives.</a:t>
              </a:r>
            </a:p>
          </p:txBody>
        </p:sp>
      </p:gr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50878" y="3997170"/>
            <a:ext cx="4984234" cy="2952054"/>
            <a:chOff x="0" y="0"/>
            <a:chExt cx="6645645" cy="3936072"/>
          </a:xfrm>
        </p:grpSpPr>
        <p:grpSp>
          <p:nvGrpSpPr>
            <p:cNvPr name="Group 7" id="7"/>
            <p:cNvGrpSpPr/>
            <p:nvPr/>
          </p:nvGrpSpPr>
          <p:grpSpPr>
            <a:xfrm rot="0">
              <a:off x="0" y="0"/>
              <a:ext cx="6645645" cy="3936072"/>
              <a:chOff x="0" y="0"/>
              <a:chExt cx="1208917" cy="716015"/>
            </a:xfrm>
          </p:grpSpPr>
          <p:sp>
            <p:nvSpPr>
              <p:cNvPr name="Freeform 8" id="8"/>
              <p:cNvSpPr/>
              <p:nvPr/>
            </p:nvSpPr>
            <p:spPr>
              <a:xfrm flipH="false" flipV="false" rot="0">
                <a:off x="0" y="0"/>
                <a:ext cx="1208917" cy="716015"/>
              </a:xfrm>
              <a:custGeom>
                <a:avLst/>
                <a:gdLst/>
                <a:ahLst/>
                <a:cxnLst/>
                <a:rect r="r" b="b" t="t" l="l"/>
                <a:pathLst>
                  <a:path h="716015" w="1208917">
                    <a:moveTo>
                      <a:pt x="37106" y="0"/>
                    </a:moveTo>
                    <a:lnTo>
                      <a:pt x="1171811" y="0"/>
                    </a:lnTo>
                    <a:cubicBezTo>
                      <a:pt x="1181652" y="0"/>
                      <a:pt x="1191090" y="3909"/>
                      <a:pt x="1198049" y="10868"/>
                    </a:cubicBezTo>
                    <a:cubicBezTo>
                      <a:pt x="1205008" y="17827"/>
                      <a:pt x="1208917" y="27265"/>
                      <a:pt x="1208917" y="37106"/>
                    </a:cubicBezTo>
                    <a:lnTo>
                      <a:pt x="1208917" y="678909"/>
                    </a:lnTo>
                    <a:cubicBezTo>
                      <a:pt x="1208917" y="699402"/>
                      <a:pt x="1192304" y="716015"/>
                      <a:pt x="1171811" y="716015"/>
                    </a:cubicBezTo>
                    <a:lnTo>
                      <a:pt x="37106" y="716015"/>
                    </a:lnTo>
                    <a:cubicBezTo>
                      <a:pt x="16613" y="716015"/>
                      <a:pt x="0" y="699402"/>
                      <a:pt x="0" y="678909"/>
                    </a:cubicBezTo>
                    <a:lnTo>
                      <a:pt x="0" y="37106"/>
                    </a:lnTo>
                    <a:cubicBezTo>
                      <a:pt x="0" y="16613"/>
                      <a:pt x="16613" y="0"/>
                      <a:pt x="37106" y="0"/>
                    </a:cubicBezTo>
                    <a:close/>
                  </a:path>
                </a:pathLst>
              </a:custGeom>
              <a:solidFill>
                <a:srgbClr val="FDFDFD"/>
              </a:solidFill>
              <a:ln w="38100" cap="rnd">
                <a:solidFill>
                  <a:srgbClr val="F5C116"/>
                </a:solidFill>
                <a:prstDash val="solid"/>
                <a:round/>
              </a:ln>
            </p:spPr>
          </p:sp>
          <p:sp>
            <p:nvSpPr>
              <p:cNvPr name="TextBox 9" id="9"/>
              <p:cNvSpPr txBox="true"/>
              <p:nvPr/>
            </p:nvSpPr>
            <p:spPr>
              <a:xfrm>
                <a:off x="0" y="-38100"/>
                <a:ext cx="1208917" cy="754115"/>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0" y="-57150"/>
              <a:ext cx="6572815" cy="3771383"/>
            </a:xfrm>
            <a:prstGeom prst="rect">
              <a:avLst/>
            </a:prstGeom>
          </p:spPr>
          <p:txBody>
            <a:bodyPr anchor="t" rtlCol="false" tIns="0" lIns="0" bIns="0" rIns="0">
              <a:spAutoFit/>
            </a:bodyPr>
            <a:lstStyle/>
            <a:p>
              <a:pPr algn="ctr">
                <a:lnSpc>
                  <a:spcPts val="3800"/>
                </a:lnSpc>
              </a:pPr>
              <a:r>
                <a:rPr lang="en-US" sz="2714">
                  <a:solidFill>
                    <a:srgbClr val="154533"/>
                  </a:solidFill>
                  <a:latin typeface="Canva Sans"/>
                  <a:ea typeface="Canva Sans"/>
                  <a:cs typeface="Canva Sans"/>
                  <a:sym typeface="Canva Sans"/>
                </a:rPr>
                <a:t>Naive Bayes and Random Forest performs best in recall (0.9765), meaning it does a better job at capturing all the fraudulent job posts compared to other models.</a:t>
              </a:r>
            </a:p>
          </p:txBody>
        </p:sp>
      </p:grpSp>
      <p:sp>
        <p:nvSpPr>
          <p:cNvPr name="Freeform 11" id="11"/>
          <p:cNvSpPr/>
          <p:nvPr/>
        </p:nvSpPr>
        <p:spPr>
          <a:xfrm flipH="false" flipV="false" rot="0">
            <a:off x="6263782" y="3101333"/>
            <a:ext cx="11682845" cy="5465635"/>
          </a:xfrm>
          <a:custGeom>
            <a:avLst/>
            <a:gdLst/>
            <a:ahLst/>
            <a:cxnLst/>
            <a:rect r="r" b="b" t="t" l="l"/>
            <a:pathLst>
              <a:path h="5465635" w="11682845">
                <a:moveTo>
                  <a:pt x="0" y="0"/>
                </a:moveTo>
                <a:lnTo>
                  <a:pt x="11682845" y="0"/>
                </a:lnTo>
                <a:lnTo>
                  <a:pt x="11682845" y="5465635"/>
                </a:lnTo>
                <a:lnTo>
                  <a:pt x="0" y="5465635"/>
                </a:lnTo>
                <a:lnTo>
                  <a:pt x="0" y="0"/>
                </a:lnTo>
                <a:close/>
              </a:path>
            </a:pathLst>
          </a:custGeom>
          <a:blipFill>
            <a:blip r:embed="rId5"/>
            <a:stretch>
              <a:fillRect l="0" t="0" r="0" b="-14891"/>
            </a:stretch>
          </a:blipFill>
          <a:ln w="38100" cap="rnd">
            <a:solidFill>
              <a:srgbClr val="154533"/>
            </a:solidFill>
            <a:prstDash val="solid"/>
            <a:round/>
          </a:ln>
        </p:spPr>
      </p:sp>
      <p:sp>
        <p:nvSpPr>
          <p:cNvPr name="TextBox 12" id="12"/>
          <p:cNvSpPr txBox="true"/>
          <p:nvPr/>
        </p:nvSpPr>
        <p:spPr>
          <a:xfrm rot="0">
            <a:off x="111278" y="2009316"/>
            <a:ext cx="15838054" cy="695959"/>
          </a:xfrm>
          <a:prstGeom prst="rect">
            <a:avLst/>
          </a:prstGeom>
        </p:spPr>
        <p:txBody>
          <a:bodyPr anchor="t" rtlCol="false" tIns="0" lIns="0" bIns="0" rIns="0">
            <a:spAutoFit/>
          </a:bodyPr>
          <a:lstStyle/>
          <a:p>
            <a:pPr algn="l">
              <a:lnSpc>
                <a:spcPts val="5169"/>
              </a:lnSpc>
            </a:pPr>
            <a:r>
              <a:rPr lang="en-US" sz="5499" b="true">
                <a:solidFill>
                  <a:srgbClr val="1211CA"/>
                </a:solidFill>
                <a:latin typeface="Montserrat Ultra-Bold"/>
                <a:ea typeface="Montserrat Ultra-Bold"/>
                <a:cs typeface="Montserrat Ultra-Bold"/>
                <a:sym typeface="Montserrat Ultra-Bold"/>
              </a:rPr>
              <a:t>Model Evaluation - Recall</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12</a:t>
            </a:r>
          </a:p>
        </p:txBody>
      </p:sp>
      <p:sp>
        <p:nvSpPr>
          <p:cNvPr name="TextBox 14" id="14"/>
          <p:cNvSpPr txBox="true"/>
          <p:nvPr/>
        </p:nvSpPr>
        <p:spPr>
          <a:xfrm rot="0">
            <a:off x="111278"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 </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50878" y="3997170"/>
            <a:ext cx="4984234" cy="2952054"/>
            <a:chOff x="0" y="0"/>
            <a:chExt cx="6645645" cy="3936072"/>
          </a:xfrm>
        </p:grpSpPr>
        <p:grpSp>
          <p:nvGrpSpPr>
            <p:cNvPr name="Group 7" id="7"/>
            <p:cNvGrpSpPr/>
            <p:nvPr/>
          </p:nvGrpSpPr>
          <p:grpSpPr>
            <a:xfrm rot="0">
              <a:off x="0" y="0"/>
              <a:ext cx="6645645" cy="3936072"/>
              <a:chOff x="0" y="0"/>
              <a:chExt cx="1208917" cy="716015"/>
            </a:xfrm>
          </p:grpSpPr>
          <p:sp>
            <p:nvSpPr>
              <p:cNvPr name="Freeform 8" id="8"/>
              <p:cNvSpPr/>
              <p:nvPr/>
            </p:nvSpPr>
            <p:spPr>
              <a:xfrm flipH="false" flipV="false" rot="0">
                <a:off x="0" y="0"/>
                <a:ext cx="1208917" cy="716015"/>
              </a:xfrm>
              <a:custGeom>
                <a:avLst/>
                <a:gdLst/>
                <a:ahLst/>
                <a:cxnLst/>
                <a:rect r="r" b="b" t="t" l="l"/>
                <a:pathLst>
                  <a:path h="716015" w="1208917">
                    <a:moveTo>
                      <a:pt x="37106" y="0"/>
                    </a:moveTo>
                    <a:lnTo>
                      <a:pt x="1171811" y="0"/>
                    </a:lnTo>
                    <a:cubicBezTo>
                      <a:pt x="1181652" y="0"/>
                      <a:pt x="1191090" y="3909"/>
                      <a:pt x="1198049" y="10868"/>
                    </a:cubicBezTo>
                    <a:cubicBezTo>
                      <a:pt x="1205008" y="17827"/>
                      <a:pt x="1208917" y="27265"/>
                      <a:pt x="1208917" y="37106"/>
                    </a:cubicBezTo>
                    <a:lnTo>
                      <a:pt x="1208917" y="678909"/>
                    </a:lnTo>
                    <a:cubicBezTo>
                      <a:pt x="1208917" y="699402"/>
                      <a:pt x="1192304" y="716015"/>
                      <a:pt x="1171811" y="716015"/>
                    </a:cubicBezTo>
                    <a:lnTo>
                      <a:pt x="37106" y="716015"/>
                    </a:lnTo>
                    <a:cubicBezTo>
                      <a:pt x="16613" y="716015"/>
                      <a:pt x="0" y="699402"/>
                      <a:pt x="0" y="678909"/>
                    </a:cubicBezTo>
                    <a:lnTo>
                      <a:pt x="0" y="37106"/>
                    </a:lnTo>
                    <a:cubicBezTo>
                      <a:pt x="0" y="16613"/>
                      <a:pt x="16613" y="0"/>
                      <a:pt x="37106" y="0"/>
                    </a:cubicBezTo>
                    <a:close/>
                  </a:path>
                </a:pathLst>
              </a:custGeom>
              <a:solidFill>
                <a:srgbClr val="FDFDFD"/>
              </a:solidFill>
              <a:ln w="38100" cap="rnd">
                <a:solidFill>
                  <a:srgbClr val="F5C116"/>
                </a:solidFill>
                <a:prstDash val="solid"/>
                <a:round/>
              </a:ln>
            </p:spPr>
          </p:sp>
          <p:sp>
            <p:nvSpPr>
              <p:cNvPr name="TextBox 9" id="9"/>
              <p:cNvSpPr txBox="true"/>
              <p:nvPr/>
            </p:nvSpPr>
            <p:spPr>
              <a:xfrm>
                <a:off x="0" y="-38100"/>
                <a:ext cx="1208917" cy="754115"/>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0" y="-57150"/>
              <a:ext cx="6572815" cy="3771383"/>
            </a:xfrm>
            <a:prstGeom prst="rect">
              <a:avLst/>
            </a:prstGeom>
          </p:spPr>
          <p:txBody>
            <a:bodyPr anchor="t" rtlCol="false" tIns="0" lIns="0" bIns="0" rIns="0">
              <a:spAutoFit/>
            </a:bodyPr>
            <a:lstStyle/>
            <a:p>
              <a:pPr algn="ctr">
                <a:lnSpc>
                  <a:spcPts val="3800"/>
                </a:lnSpc>
              </a:pPr>
              <a:r>
                <a:rPr lang="en-US" sz="2714">
                  <a:solidFill>
                    <a:srgbClr val="000000"/>
                  </a:solidFill>
                  <a:latin typeface="Canva Sans"/>
                  <a:ea typeface="Canva Sans"/>
                  <a:cs typeface="Canva Sans"/>
                  <a:sym typeface="Canva Sans"/>
                </a:rPr>
                <a:t>Logistic Regression and Random Forest have the highest F1 scores (0.9733 and 0.9765), indicating good balance between precision and recall for these models.</a:t>
              </a:r>
            </a:p>
          </p:txBody>
        </p:sp>
      </p:grpSp>
      <p:sp>
        <p:nvSpPr>
          <p:cNvPr name="Freeform 11" id="11"/>
          <p:cNvSpPr/>
          <p:nvPr/>
        </p:nvSpPr>
        <p:spPr>
          <a:xfrm flipH="false" flipV="false" rot="0">
            <a:off x="5622245" y="3040341"/>
            <a:ext cx="12470282" cy="5580451"/>
          </a:xfrm>
          <a:custGeom>
            <a:avLst/>
            <a:gdLst/>
            <a:ahLst/>
            <a:cxnLst/>
            <a:rect r="r" b="b" t="t" l="l"/>
            <a:pathLst>
              <a:path h="5580451" w="12470282">
                <a:moveTo>
                  <a:pt x="0" y="0"/>
                </a:moveTo>
                <a:lnTo>
                  <a:pt x="12470282" y="0"/>
                </a:lnTo>
                <a:lnTo>
                  <a:pt x="12470282" y="5580452"/>
                </a:lnTo>
                <a:lnTo>
                  <a:pt x="0" y="5580452"/>
                </a:lnTo>
                <a:lnTo>
                  <a:pt x="0" y="0"/>
                </a:lnTo>
                <a:close/>
              </a:path>
            </a:pathLst>
          </a:custGeom>
          <a:blipFill>
            <a:blip r:embed="rId5"/>
            <a:stretch>
              <a:fillRect l="0" t="0" r="0" b="0"/>
            </a:stretch>
          </a:blipFill>
          <a:ln w="38100" cap="rnd">
            <a:solidFill>
              <a:srgbClr val="154533"/>
            </a:solidFill>
            <a:prstDash val="solid"/>
            <a:round/>
          </a:ln>
        </p:spPr>
      </p:sp>
      <p:sp>
        <p:nvSpPr>
          <p:cNvPr name="TextBox 12" id="12"/>
          <p:cNvSpPr txBox="true"/>
          <p:nvPr/>
        </p:nvSpPr>
        <p:spPr>
          <a:xfrm rot="0">
            <a:off x="111278" y="2009316"/>
            <a:ext cx="15838054" cy="695959"/>
          </a:xfrm>
          <a:prstGeom prst="rect">
            <a:avLst/>
          </a:prstGeom>
        </p:spPr>
        <p:txBody>
          <a:bodyPr anchor="t" rtlCol="false" tIns="0" lIns="0" bIns="0" rIns="0">
            <a:spAutoFit/>
          </a:bodyPr>
          <a:lstStyle/>
          <a:p>
            <a:pPr algn="l">
              <a:lnSpc>
                <a:spcPts val="5169"/>
              </a:lnSpc>
            </a:pPr>
            <a:r>
              <a:rPr lang="en-US" sz="5499" b="true">
                <a:solidFill>
                  <a:srgbClr val="1211CA"/>
                </a:solidFill>
                <a:latin typeface="Montserrat Ultra-Bold"/>
                <a:ea typeface="Montserrat Ultra-Bold"/>
                <a:cs typeface="Montserrat Ultra-Bold"/>
                <a:sym typeface="Montserrat Ultra-Bold"/>
              </a:rPr>
              <a:t>Model Evaluation - F1 Score</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13</a:t>
            </a:r>
          </a:p>
        </p:txBody>
      </p:sp>
      <p:sp>
        <p:nvSpPr>
          <p:cNvPr name="TextBox 14" id="14"/>
          <p:cNvSpPr txBox="true"/>
          <p:nvPr/>
        </p:nvSpPr>
        <p:spPr>
          <a:xfrm rot="0">
            <a:off x="111278"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 </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3">
              <a:alphaModFix amt="16000"/>
              <a:extLst>
                <a:ext uri="{96DAC541-7B7A-43D3-8B79-37D633B846F1}">
                  <asvg:svgBlip xmlns:asvg="http://schemas.microsoft.com/office/drawing/2016/SVG/main" r:embed="rId4"/>
                </a:ext>
              </a:extLst>
            </a:blip>
            <a:stretch>
              <a:fillRect l="0" t="0" r="0" b="0"/>
            </a:stretch>
          </a:blipFill>
        </p:spPr>
      </p:sp>
      <p:grpSp>
        <p:nvGrpSpPr>
          <p:cNvPr name="Group 3" id="3"/>
          <p:cNvGrpSpPr/>
          <p:nvPr/>
        </p:nvGrpSpPr>
        <p:grpSpPr>
          <a:xfrm rot="0">
            <a:off x="250878" y="1526997"/>
            <a:ext cx="8715112" cy="206094"/>
            <a:chOff x="0" y="0"/>
            <a:chExt cx="2295338" cy="54280"/>
          </a:xfrm>
        </p:grpSpPr>
        <p:sp>
          <p:nvSpPr>
            <p:cNvPr name="Freeform 4" id="4"/>
            <p:cNvSpPr/>
            <p:nvPr/>
          </p:nvSpPr>
          <p:spPr>
            <a:xfrm flipH="false" flipV="false" rot="0">
              <a:off x="0" y="0"/>
              <a:ext cx="2295338" cy="54280"/>
            </a:xfrm>
            <a:custGeom>
              <a:avLst/>
              <a:gdLst/>
              <a:ahLst/>
              <a:cxnLst/>
              <a:rect r="r" b="b" t="t" l="l"/>
              <a:pathLst>
                <a:path h="54280" w="2295338">
                  <a:moveTo>
                    <a:pt x="0" y="0"/>
                  </a:moveTo>
                  <a:lnTo>
                    <a:pt x="2295338" y="0"/>
                  </a:lnTo>
                  <a:lnTo>
                    <a:pt x="2295338" y="54280"/>
                  </a:lnTo>
                  <a:lnTo>
                    <a:pt x="0" y="54280"/>
                  </a:lnTo>
                  <a:close/>
                </a:path>
              </a:pathLst>
            </a:custGeom>
            <a:solidFill>
              <a:srgbClr val="F9B314"/>
            </a:solidFill>
          </p:spPr>
        </p:sp>
        <p:sp>
          <p:nvSpPr>
            <p:cNvPr name="TextBox 5" id="5"/>
            <p:cNvSpPr txBox="true"/>
            <p:nvPr/>
          </p:nvSpPr>
          <p:spPr>
            <a:xfrm>
              <a:off x="0" y="-38100"/>
              <a:ext cx="2295338" cy="92380"/>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250878" y="3997170"/>
            <a:ext cx="4984234" cy="2476283"/>
            <a:chOff x="0" y="0"/>
            <a:chExt cx="6645645" cy="3301710"/>
          </a:xfrm>
        </p:grpSpPr>
        <p:grpSp>
          <p:nvGrpSpPr>
            <p:cNvPr name="Group 7" id="7"/>
            <p:cNvGrpSpPr/>
            <p:nvPr/>
          </p:nvGrpSpPr>
          <p:grpSpPr>
            <a:xfrm rot="0">
              <a:off x="0" y="0"/>
              <a:ext cx="6645645" cy="3301710"/>
              <a:chOff x="0" y="0"/>
              <a:chExt cx="1208917" cy="600618"/>
            </a:xfrm>
          </p:grpSpPr>
          <p:sp>
            <p:nvSpPr>
              <p:cNvPr name="Freeform 8" id="8"/>
              <p:cNvSpPr/>
              <p:nvPr/>
            </p:nvSpPr>
            <p:spPr>
              <a:xfrm flipH="false" flipV="false" rot="0">
                <a:off x="0" y="0"/>
                <a:ext cx="1208917" cy="600618"/>
              </a:xfrm>
              <a:custGeom>
                <a:avLst/>
                <a:gdLst/>
                <a:ahLst/>
                <a:cxnLst/>
                <a:rect r="r" b="b" t="t" l="l"/>
                <a:pathLst>
                  <a:path h="600618" w="1208917">
                    <a:moveTo>
                      <a:pt x="37106" y="0"/>
                    </a:moveTo>
                    <a:lnTo>
                      <a:pt x="1171811" y="0"/>
                    </a:lnTo>
                    <a:cubicBezTo>
                      <a:pt x="1181652" y="0"/>
                      <a:pt x="1191090" y="3909"/>
                      <a:pt x="1198049" y="10868"/>
                    </a:cubicBezTo>
                    <a:cubicBezTo>
                      <a:pt x="1205008" y="17827"/>
                      <a:pt x="1208917" y="27265"/>
                      <a:pt x="1208917" y="37106"/>
                    </a:cubicBezTo>
                    <a:lnTo>
                      <a:pt x="1208917" y="563512"/>
                    </a:lnTo>
                    <a:cubicBezTo>
                      <a:pt x="1208917" y="584005"/>
                      <a:pt x="1192304" y="600618"/>
                      <a:pt x="1171811" y="600618"/>
                    </a:cubicBezTo>
                    <a:lnTo>
                      <a:pt x="37106" y="600618"/>
                    </a:lnTo>
                    <a:cubicBezTo>
                      <a:pt x="16613" y="600618"/>
                      <a:pt x="0" y="584005"/>
                      <a:pt x="0" y="563512"/>
                    </a:cubicBezTo>
                    <a:lnTo>
                      <a:pt x="0" y="37106"/>
                    </a:lnTo>
                    <a:cubicBezTo>
                      <a:pt x="0" y="16613"/>
                      <a:pt x="16613" y="0"/>
                      <a:pt x="37106" y="0"/>
                    </a:cubicBezTo>
                    <a:close/>
                  </a:path>
                </a:pathLst>
              </a:custGeom>
              <a:solidFill>
                <a:srgbClr val="FDFDFD"/>
              </a:solidFill>
              <a:ln w="38100" cap="rnd">
                <a:solidFill>
                  <a:srgbClr val="F5C116"/>
                </a:solidFill>
                <a:prstDash val="solid"/>
                <a:round/>
              </a:ln>
            </p:spPr>
          </p:sp>
          <p:sp>
            <p:nvSpPr>
              <p:cNvPr name="TextBox 9" id="9"/>
              <p:cNvSpPr txBox="true"/>
              <p:nvPr/>
            </p:nvSpPr>
            <p:spPr>
              <a:xfrm>
                <a:off x="0" y="-38100"/>
                <a:ext cx="1208917" cy="638718"/>
              </a:xfrm>
              <a:prstGeom prst="rect">
                <a:avLst/>
              </a:prstGeom>
            </p:spPr>
            <p:txBody>
              <a:bodyPr anchor="ctr" rtlCol="false" tIns="50800" lIns="50800" bIns="50800" rIns="50800"/>
              <a:lstStyle/>
              <a:p>
                <a:pPr algn="ctr">
                  <a:lnSpc>
                    <a:spcPts val="2660"/>
                  </a:lnSpc>
                </a:pPr>
              </a:p>
            </p:txBody>
          </p:sp>
        </p:grpSp>
        <p:sp>
          <p:nvSpPr>
            <p:cNvPr name="TextBox 10" id="10"/>
            <p:cNvSpPr txBox="true"/>
            <p:nvPr/>
          </p:nvSpPr>
          <p:spPr>
            <a:xfrm rot="0">
              <a:off x="0" y="-57150"/>
              <a:ext cx="6572815" cy="3137021"/>
            </a:xfrm>
            <a:prstGeom prst="rect">
              <a:avLst/>
            </a:prstGeom>
          </p:spPr>
          <p:txBody>
            <a:bodyPr anchor="t" rtlCol="false" tIns="0" lIns="0" bIns="0" rIns="0">
              <a:spAutoFit/>
            </a:bodyPr>
            <a:lstStyle/>
            <a:p>
              <a:pPr algn="ctr">
                <a:lnSpc>
                  <a:spcPts val="3800"/>
                </a:lnSpc>
              </a:pPr>
              <a:r>
                <a:rPr lang="en-US" sz="2714">
                  <a:solidFill>
                    <a:srgbClr val="000000"/>
                  </a:solidFill>
                  <a:latin typeface="Canva Sans"/>
                  <a:ea typeface="Canva Sans"/>
                  <a:cs typeface="Canva Sans"/>
                  <a:sym typeface="Canva Sans"/>
                </a:rPr>
                <a:t>BERT (Fine-Tuned) achieves the highest CV score (0.9760), showcasing its stability and robustness across different data splits.</a:t>
              </a:r>
            </a:p>
          </p:txBody>
        </p:sp>
      </p:grpSp>
      <p:sp>
        <p:nvSpPr>
          <p:cNvPr name="Freeform 11" id="11"/>
          <p:cNvSpPr/>
          <p:nvPr/>
        </p:nvSpPr>
        <p:spPr>
          <a:xfrm flipH="false" flipV="false" rot="0">
            <a:off x="5384245" y="2848150"/>
            <a:ext cx="12757151" cy="5613146"/>
          </a:xfrm>
          <a:custGeom>
            <a:avLst/>
            <a:gdLst/>
            <a:ahLst/>
            <a:cxnLst/>
            <a:rect r="r" b="b" t="t" l="l"/>
            <a:pathLst>
              <a:path h="5613146" w="12757151">
                <a:moveTo>
                  <a:pt x="0" y="0"/>
                </a:moveTo>
                <a:lnTo>
                  <a:pt x="12757150" y="0"/>
                </a:lnTo>
                <a:lnTo>
                  <a:pt x="12757150" y="5613146"/>
                </a:lnTo>
                <a:lnTo>
                  <a:pt x="0" y="5613146"/>
                </a:lnTo>
                <a:lnTo>
                  <a:pt x="0" y="0"/>
                </a:lnTo>
                <a:close/>
              </a:path>
            </a:pathLst>
          </a:custGeom>
          <a:blipFill>
            <a:blip r:embed="rId5"/>
            <a:stretch>
              <a:fillRect l="0" t="0" r="0" b="0"/>
            </a:stretch>
          </a:blipFill>
          <a:ln w="38100" cap="rnd">
            <a:solidFill>
              <a:srgbClr val="1211CA"/>
            </a:solidFill>
            <a:prstDash val="solid"/>
            <a:round/>
          </a:ln>
        </p:spPr>
      </p:sp>
      <p:sp>
        <p:nvSpPr>
          <p:cNvPr name="TextBox 12" id="12"/>
          <p:cNvSpPr txBox="true"/>
          <p:nvPr/>
        </p:nvSpPr>
        <p:spPr>
          <a:xfrm rot="0">
            <a:off x="111278" y="2009316"/>
            <a:ext cx="15838054" cy="695959"/>
          </a:xfrm>
          <a:prstGeom prst="rect">
            <a:avLst/>
          </a:prstGeom>
        </p:spPr>
        <p:txBody>
          <a:bodyPr anchor="t" rtlCol="false" tIns="0" lIns="0" bIns="0" rIns="0">
            <a:spAutoFit/>
          </a:bodyPr>
          <a:lstStyle/>
          <a:p>
            <a:pPr algn="l">
              <a:lnSpc>
                <a:spcPts val="5169"/>
              </a:lnSpc>
            </a:pPr>
            <a:r>
              <a:rPr lang="en-US" sz="5499" b="true">
                <a:solidFill>
                  <a:srgbClr val="1211CA"/>
                </a:solidFill>
                <a:latin typeface="Montserrat Ultra-Bold"/>
                <a:ea typeface="Montserrat Ultra-Bold"/>
                <a:cs typeface="Montserrat Ultra-Bold"/>
                <a:sym typeface="Montserrat Ultra-Bold"/>
              </a:rPr>
              <a:t>Model Evaluation - Cross-Validation (CV) </a:t>
            </a:r>
          </a:p>
        </p:txBody>
      </p:sp>
      <p:sp>
        <p:nvSpPr>
          <p:cNvPr name="TextBox 13" id="13"/>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14</a:t>
            </a:r>
          </a:p>
        </p:txBody>
      </p:sp>
      <p:sp>
        <p:nvSpPr>
          <p:cNvPr name="TextBox 14" id="14"/>
          <p:cNvSpPr txBox="true"/>
          <p:nvPr/>
        </p:nvSpPr>
        <p:spPr>
          <a:xfrm rot="0">
            <a:off x="111278" y="375742"/>
            <a:ext cx="9180213" cy="1009652"/>
          </a:xfrm>
          <a:prstGeom prst="rect">
            <a:avLst/>
          </a:prstGeom>
        </p:spPr>
        <p:txBody>
          <a:bodyPr anchor="t" rtlCol="false" tIns="0" lIns="0" bIns="0" rIns="0">
            <a:spAutoFit/>
          </a:bodyPr>
          <a:lstStyle/>
          <a:p>
            <a:pPr algn="r">
              <a:lnSpc>
                <a:spcPts val="8399"/>
              </a:lnSpc>
            </a:pPr>
            <a:r>
              <a:rPr lang="en-US" b="true" sz="5999">
                <a:solidFill>
                  <a:srgbClr val="154533"/>
                </a:solidFill>
                <a:latin typeface="Montserrat Bold"/>
                <a:ea typeface="Montserrat Bold"/>
                <a:cs typeface="Montserrat Bold"/>
                <a:sym typeface="Montserrat Bold"/>
              </a:rPr>
              <a:t>MODEL DESCRIPTION </a:t>
            </a: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3142" y="1962152"/>
            <a:ext cx="14799201" cy="303830"/>
            <a:chOff x="0" y="0"/>
            <a:chExt cx="3897732" cy="80021"/>
          </a:xfrm>
        </p:grpSpPr>
        <p:sp>
          <p:nvSpPr>
            <p:cNvPr name="Freeform 4" id="4"/>
            <p:cNvSpPr/>
            <p:nvPr/>
          </p:nvSpPr>
          <p:spPr>
            <a:xfrm flipH="false" flipV="false" rot="0">
              <a:off x="0" y="0"/>
              <a:ext cx="3897732" cy="80021"/>
            </a:xfrm>
            <a:custGeom>
              <a:avLst/>
              <a:gdLst/>
              <a:ahLst/>
              <a:cxnLst/>
              <a:rect r="r" b="b" t="t" l="l"/>
              <a:pathLst>
                <a:path h="80021" w="3897732">
                  <a:moveTo>
                    <a:pt x="0" y="0"/>
                  </a:moveTo>
                  <a:lnTo>
                    <a:pt x="3897732" y="0"/>
                  </a:lnTo>
                  <a:lnTo>
                    <a:pt x="3897732" y="80021"/>
                  </a:lnTo>
                  <a:lnTo>
                    <a:pt x="0" y="80021"/>
                  </a:lnTo>
                  <a:close/>
                </a:path>
              </a:pathLst>
            </a:custGeom>
            <a:solidFill>
              <a:srgbClr val="F9B314"/>
            </a:solidFill>
          </p:spPr>
        </p:sp>
        <p:sp>
          <p:nvSpPr>
            <p:cNvPr name="TextBox 5" id="5"/>
            <p:cNvSpPr txBox="true"/>
            <p:nvPr/>
          </p:nvSpPr>
          <p:spPr>
            <a:xfrm>
              <a:off x="0" y="-38100"/>
              <a:ext cx="3897732" cy="118121"/>
            </a:xfrm>
            <a:prstGeom prst="rect">
              <a:avLst/>
            </a:prstGeom>
          </p:spPr>
          <p:txBody>
            <a:bodyPr anchor="ctr" rtlCol="false" tIns="50800" lIns="50800" bIns="50800" rIns="50800"/>
            <a:lstStyle/>
            <a:p>
              <a:pPr algn="ctr">
                <a:lnSpc>
                  <a:spcPts val="2659"/>
                </a:lnSpc>
                <a:spcBef>
                  <a:spcPct val="0"/>
                </a:spcBef>
              </a:pPr>
            </a:p>
          </p:txBody>
        </p:sp>
      </p:grpSp>
      <p:pic>
        <p:nvPicPr>
          <p:cNvPr name="Picture 6" id="6">
            <a:hlinkClick action="ppaction://media"/>
          </p:cNvPr>
          <p:cNvPicPr>
            <a:picLocks noChangeAspect="true"/>
          </p:cNvPicPr>
          <p:nvPr>
            <a:videoFile r:link="rId5"/>
            <p:extLst>
              <p:ext uri="{DAA4B4D4-6D71-4841-9C94-3DE7FCFB9230}">
                <p14:media xmlns:p14="http://schemas.microsoft.com/office/powerpoint/2010/main" r:embed="rId6"/>
              </p:ext>
            </p:extLst>
          </p:nvPr>
        </p:nvPicPr>
        <p:blipFill>
          <a:blip r:embed="rId4"/>
          <a:srcRect l="0" t="15894" r="0" b="10976"/>
          <a:stretch>
            <a:fillRect/>
          </a:stretch>
        </p:blipFill>
        <p:spPr>
          <a:xfrm flipH="false" flipV="false" rot="0">
            <a:off x="0" y="2462138"/>
            <a:ext cx="19022194" cy="7824862"/>
          </a:xfrm>
          <a:prstGeom prst="rect">
            <a:avLst/>
          </a:prstGeom>
          <a:ln w="38100" cap="sq">
            <a:solidFill>
              <a:srgbClr val="154533"/>
            </a:solidFill>
            <a:prstDash val="solid"/>
          </a:ln>
        </p:spPr>
      </p:pic>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15</a:t>
            </a:r>
          </a:p>
        </p:txBody>
      </p:sp>
      <p:sp>
        <p:nvSpPr>
          <p:cNvPr name="TextBox 8" id="8"/>
          <p:cNvSpPr txBox="true"/>
          <p:nvPr/>
        </p:nvSpPr>
        <p:spPr>
          <a:xfrm rot="0">
            <a:off x="153142" y="-104775"/>
            <a:ext cx="17658842" cy="1908176"/>
          </a:xfrm>
          <a:prstGeom prst="rect">
            <a:avLst/>
          </a:prstGeom>
        </p:spPr>
        <p:txBody>
          <a:bodyPr anchor="t" rtlCol="false" tIns="0" lIns="0" bIns="0" rIns="0">
            <a:spAutoFit/>
          </a:bodyPr>
          <a:lstStyle/>
          <a:p>
            <a:pPr algn="l">
              <a:lnSpc>
                <a:spcPts val="7699"/>
              </a:lnSpc>
            </a:pPr>
            <a:r>
              <a:rPr lang="en-US" b="true" sz="5499">
                <a:solidFill>
                  <a:srgbClr val="154533"/>
                </a:solidFill>
                <a:latin typeface="Montserrat Bold"/>
                <a:ea typeface="Montserrat Bold"/>
                <a:cs typeface="Montserrat Bold"/>
                <a:sym typeface="Montserrat Bold"/>
              </a:rPr>
              <a:t>PROJECT DEMONSTRATION USING STREAMLIT WITH BEST MODEL - RANDOM FOREST</a:t>
            </a:r>
          </a:p>
        </p:txBody>
      </p:sp>
    </p:spTree>
  </p:cSld>
  <p:clrMapOvr>
    <a:masterClrMapping/>
  </p:clrMapOvr>
  <p:timing>
    <p:tnLst>
      <p:par>
        <p:cTn dur="indefinite" restart="never" nodeType="tmRoot">
          <p:childTnLst>
            <p:video>
              <p:cMediaNode vol="0">
                <p:cTn fill="hold" display="false">
                  <p:stCondLst>
                    <p:cond delay="indefinite"/>
                  </p:stCondLst>
                </p:cTn>
                <p:tgtEl>
                  <p:spTgt spid="6"/>
                </p:tgtEl>
              </p:cMediaNode>
            </p:video>
          </p:childTnLst>
        </p:cTn>
      </p:par>
    </p:tnLst>
  </p:timing>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53142" y="1491767"/>
            <a:ext cx="14799201" cy="303830"/>
            <a:chOff x="0" y="0"/>
            <a:chExt cx="3897732" cy="80021"/>
          </a:xfrm>
        </p:grpSpPr>
        <p:sp>
          <p:nvSpPr>
            <p:cNvPr name="Freeform 4" id="4"/>
            <p:cNvSpPr/>
            <p:nvPr/>
          </p:nvSpPr>
          <p:spPr>
            <a:xfrm flipH="false" flipV="false" rot="0">
              <a:off x="0" y="0"/>
              <a:ext cx="3897732" cy="80021"/>
            </a:xfrm>
            <a:custGeom>
              <a:avLst/>
              <a:gdLst/>
              <a:ahLst/>
              <a:cxnLst/>
              <a:rect r="r" b="b" t="t" l="l"/>
              <a:pathLst>
                <a:path h="80021" w="3897732">
                  <a:moveTo>
                    <a:pt x="0" y="0"/>
                  </a:moveTo>
                  <a:lnTo>
                    <a:pt x="3897732" y="0"/>
                  </a:lnTo>
                  <a:lnTo>
                    <a:pt x="3897732" y="80021"/>
                  </a:lnTo>
                  <a:lnTo>
                    <a:pt x="0" y="80021"/>
                  </a:lnTo>
                  <a:close/>
                </a:path>
              </a:pathLst>
            </a:custGeom>
            <a:solidFill>
              <a:srgbClr val="F9B314"/>
            </a:solidFill>
          </p:spPr>
        </p:sp>
        <p:sp>
          <p:nvSpPr>
            <p:cNvPr name="TextBox 5" id="5"/>
            <p:cNvSpPr txBox="true"/>
            <p:nvPr/>
          </p:nvSpPr>
          <p:spPr>
            <a:xfrm>
              <a:off x="0" y="-38100"/>
              <a:ext cx="3897732" cy="118121"/>
            </a:xfrm>
            <a:prstGeom prst="rect">
              <a:avLst/>
            </a:prstGeom>
          </p:spPr>
          <p:txBody>
            <a:bodyPr anchor="ctr" rtlCol="false" tIns="50800" lIns="50800" bIns="50800" rIns="50800"/>
            <a:lstStyle/>
            <a:p>
              <a:pPr algn="ctr">
                <a:lnSpc>
                  <a:spcPts val="2659"/>
                </a:lnSpc>
                <a:spcBef>
                  <a:spcPct val="0"/>
                </a:spcBef>
              </a:pPr>
            </a:p>
          </p:txBody>
        </p:sp>
      </p:grpSp>
      <p:sp>
        <p:nvSpPr>
          <p:cNvPr name="TextBox 6" id="6"/>
          <p:cNvSpPr txBox="true"/>
          <p:nvPr/>
        </p:nvSpPr>
        <p:spPr>
          <a:xfrm rot="0">
            <a:off x="153142" y="1926105"/>
            <a:ext cx="10919751" cy="8710897"/>
          </a:xfrm>
          <a:prstGeom prst="rect">
            <a:avLst/>
          </a:prstGeom>
        </p:spPr>
        <p:txBody>
          <a:bodyPr anchor="t" rtlCol="false" tIns="0" lIns="0" bIns="0" rIns="0">
            <a:spAutoFit/>
          </a:bodyPr>
          <a:lstStyle/>
          <a:p>
            <a:pPr algn="just">
              <a:lnSpc>
                <a:spcPts val="4062"/>
              </a:lnSpc>
            </a:pPr>
            <a:r>
              <a:rPr lang="en-US" sz="2901" b="true">
                <a:solidFill>
                  <a:srgbClr val="000000"/>
                </a:solidFill>
                <a:latin typeface="Canva Sans Bold"/>
                <a:ea typeface="Canva Sans Bold"/>
                <a:cs typeface="Canva Sans Bold"/>
                <a:sym typeface="Canva Sans Bold"/>
              </a:rPr>
              <a:t>1. One-Click Analysis</a:t>
            </a:r>
          </a:p>
          <a:p>
            <a:pPr algn="just" marL="626455" indent="-313227" lvl="1">
              <a:lnSpc>
                <a:spcPts val="4062"/>
              </a:lnSpc>
              <a:buFont typeface="Arial"/>
              <a:buChar char="•"/>
            </a:pPr>
            <a:r>
              <a:rPr lang="en-US" sz="2901">
                <a:solidFill>
                  <a:srgbClr val="000000"/>
                </a:solidFill>
                <a:latin typeface="Canva Sans"/>
                <a:ea typeface="Canva Sans"/>
                <a:cs typeface="Canva Sans"/>
                <a:sym typeface="Canva Sans"/>
              </a:rPr>
              <a:t>Accept any input: PDF, URL, or copied text</a:t>
            </a:r>
          </a:p>
          <a:p>
            <a:pPr algn="just" marL="626455" indent="-313227" lvl="1">
              <a:lnSpc>
                <a:spcPts val="4062"/>
              </a:lnSpc>
              <a:buFont typeface="Arial"/>
              <a:buChar char="•"/>
            </a:pPr>
            <a:r>
              <a:rPr lang="en-US" sz="2901">
                <a:solidFill>
                  <a:srgbClr val="000000"/>
                </a:solidFill>
                <a:latin typeface="Canva Sans"/>
                <a:ea typeface="Canva Sans"/>
                <a:cs typeface="Canva Sans"/>
                <a:sym typeface="Canva Sans"/>
              </a:rPr>
              <a:t>Auto-extract job details (title, company, description)</a:t>
            </a:r>
          </a:p>
          <a:p>
            <a:pPr algn="just">
              <a:lnSpc>
                <a:spcPts val="4062"/>
              </a:lnSpc>
            </a:pPr>
          </a:p>
          <a:p>
            <a:pPr algn="just">
              <a:lnSpc>
                <a:spcPts val="4062"/>
              </a:lnSpc>
            </a:pPr>
            <a:r>
              <a:rPr lang="en-US" sz="2901" b="true">
                <a:solidFill>
                  <a:srgbClr val="000000"/>
                </a:solidFill>
                <a:latin typeface="Canva Sans Bold"/>
                <a:ea typeface="Canva Sans Bold"/>
                <a:cs typeface="Canva Sans Bold"/>
                <a:sym typeface="Canva Sans Bold"/>
              </a:rPr>
              <a:t>2. Instant Fraud Score + Reasons</a:t>
            </a:r>
          </a:p>
          <a:p>
            <a:pPr algn="just" marL="626455" indent="-313227" lvl="1">
              <a:lnSpc>
                <a:spcPts val="4062"/>
              </a:lnSpc>
              <a:buFont typeface="Arial"/>
              <a:buChar char="•"/>
            </a:pPr>
            <a:r>
              <a:rPr lang="en-US" sz="2901">
                <a:solidFill>
                  <a:srgbClr val="000000"/>
                </a:solidFill>
                <a:latin typeface="Canva Sans"/>
                <a:ea typeface="Canva Sans"/>
                <a:cs typeface="Canva Sans"/>
                <a:sym typeface="Canva Sans"/>
              </a:rPr>
              <a:t>Show scam probability % (e.g. "87% risky")</a:t>
            </a:r>
          </a:p>
          <a:p>
            <a:pPr algn="just" marL="626455" indent="-313227" lvl="1">
              <a:lnSpc>
                <a:spcPts val="4062"/>
              </a:lnSpc>
              <a:buFont typeface="Arial"/>
              <a:buChar char="•"/>
            </a:pPr>
            <a:r>
              <a:rPr lang="en-US" sz="2901">
                <a:solidFill>
                  <a:srgbClr val="000000"/>
                </a:solidFill>
                <a:latin typeface="Canva Sans"/>
                <a:ea typeface="Canva Sans"/>
                <a:cs typeface="Canva Sans"/>
                <a:sym typeface="Canva Sans"/>
              </a:rPr>
              <a:t>Highlight suspicious phrases using LIME (e.g. "❗'No experience needed' + 'high salary'")</a:t>
            </a:r>
          </a:p>
          <a:p>
            <a:pPr algn="just">
              <a:lnSpc>
                <a:spcPts val="4062"/>
              </a:lnSpc>
            </a:pPr>
          </a:p>
          <a:p>
            <a:pPr algn="just">
              <a:lnSpc>
                <a:spcPts val="4062"/>
              </a:lnSpc>
            </a:pPr>
            <a:r>
              <a:rPr lang="en-US" sz="2901" b="true">
                <a:solidFill>
                  <a:srgbClr val="000000"/>
                </a:solidFill>
                <a:latin typeface="Canva Sans Bold"/>
                <a:ea typeface="Canva Sans Bold"/>
                <a:cs typeface="Canva Sans Bold"/>
                <a:sym typeface="Canva Sans Bold"/>
              </a:rPr>
              <a:t>3. Streamlit Upgrades</a:t>
            </a:r>
          </a:p>
          <a:p>
            <a:pPr algn="just" marL="626455" indent="-313227" lvl="1">
              <a:lnSpc>
                <a:spcPts val="4062"/>
              </a:lnSpc>
              <a:buFont typeface="Arial"/>
              <a:buChar char="•"/>
            </a:pPr>
            <a:r>
              <a:rPr lang="en-US" sz="2901">
                <a:solidFill>
                  <a:srgbClr val="000000"/>
                </a:solidFill>
                <a:latin typeface="Canva Sans"/>
                <a:ea typeface="Canva Sans"/>
                <a:cs typeface="Canva Sans"/>
                <a:sym typeface="Canva Sans"/>
              </a:rPr>
              <a:t>Add batch processing (CSV uploads)</a:t>
            </a:r>
          </a:p>
          <a:p>
            <a:pPr algn="just" marL="626455" indent="-313227" lvl="1">
              <a:lnSpc>
                <a:spcPts val="4062"/>
              </a:lnSpc>
              <a:buFont typeface="Arial"/>
              <a:buChar char="•"/>
            </a:pPr>
            <a:r>
              <a:rPr lang="en-US" sz="2901">
                <a:solidFill>
                  <a:srgbClr val="000000"/>
                </a:solidFill>
                <a:latin typeface="Canva Sans"/>
                <a:ea typeface="Canva Sans"/>
                <a:cs typeface="Canva Sans"/>
                <a:sym typeface="Canva Sans"/>
              </a:rPr>
              <a:t>Let users flag errors to improve model</a:t>
            </a:r>
          </a:p>
          <a:p>
            <a:pPr algn="just">
              <a:lnSpc>
                <a:spcPts val="4062"/>
              </a:lnSpc>
            </a:pPr>
          </a:p>
          <a:p>
            <a:pPr algn="just">
              <a:lnSpc>
                <a:spcPts val="4062"/>
              </a:lnSpc>
            </a:pPr>
            <a:r>
              <a:rPr lang="en-US" sz="2901" b="true">
                <a:solidFill>
                  <a:srgbClr val="000000"/>
                </a:solidFill>
                <a:latin typeface="Canva Sans Bold"/>
                <a:ea typeface="Canva Sans Bold"/>
                <a:cs typeface="Canva Sans Bold"/>
                <a:sym typeface="Canva Sans Bold"/>
              </a:rPr>
              <a:t>Key Benefit:</a:t>
            </a:r>
          </a:p>
          <a:p>
            <a:pPr algn="just">
              <a:lnSpc>
                <a:spcPts val="4062"/>
              </a:lnSpc>
            </a:pPr>
            <a:r>
              <a:rPr lang="en-US" sz="2901">
                <a:solidFill>
                  <a:srgbClr val="000000"/>
                </a:solidFill>
                <a:latin typeface="Canva Sans"/>
                <a:ea typeface="Canva Sans"/>
                <a:cs typeface="Canva Sans"/>
                <a:sym typeface="Canva Sans"/>
              </a:rPr>
              <a:t>"From complex analysis to simple red flags - making fraud detection accessible for every job seeker."</a:t>
            </a:r>
          </a:p>
          <a:p>
            <a:pPr algn="just">
              <a:lnSpc>
                <a:spcPts val="4062"/>
              </a:lnSpc>
            </a:pPr>
          </a:p>
        </p:txBody>
      </p:sp>
      <p:sp>
        <p:nvSpPr>
          <p:cNvPr name="TextBox 7" id="7"/>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16</a:t>
            </a:r>
          </a:p>
        </p:txBody>
      </p:sp>
      <p:sp>
        <p:nvSpPr>
          <p:cNvPr name="TextBox 8" id="8"/>
          <p:cNvSpPr txBox="true"/>
          <p:nvPr/>
        </p:nvSpPr>
        <p:spPr>
          <a:xfrm rot="0">
            <a:off x="153142" y="283804"/>
            <a:ext cx="17658842" cy="936626"/>
          </a:xfrm>
          <a:prstGeom prst="rect">
            <a:avLst/>
          </a:prstGeom>
        </p:spPr>
        <p:txBody>
          <a:bodyPr anchor="t" rtlCol="false" tIns="0" lIns="0" bIns="0" rIns="0">
            <a:spAutoFit/>
          </a:bodyPr>
          <a:lstStyle/>
          <a:p>
            <a:pPr algn="l">
              <a:lnSpc>
                <a:spcPts val="7699"/>
              </a:lnSpc>
            </a:pPr>
            <a:r>
              <a:rPr lang="en-US" b="true" sz="5499">
                <a:solidFill>
                  <a:srgbClr val="154533"/>
                </a:solidFill>
                <a:latin typeface="Montserrat Bold"/>
                <a:ea typeface="Montserrat Bold"/>
                <a:cs typeface="Montserrat Bold"/>
                <a:sym typeface="Montserrat Bold"/>
              </a:rPr>
              <a:t>FUTURE WORK - SMARTER FRAUD DETECTION</a:t>
            </a:r>
          </a:p>
        </p:txBody>
      </p:sp>
      <p:grpSp>
        <p:nvGrpSpPr>
          <p:cNvPr name="Group 9" id="9"/>
          <p:cNvGrpSpPr/>
          <p:nvPr/>
        </p:nvGrpSpPr>
        <p:grpSpPr>
          <a:xfrm rot="0">
            <a:off x="12318828" y="2213109"/>
            <a:ext cx="3694537" cy="7196003"/>
            <a:chOff x="0" y="0"/>
            <a:chExt cx="4926049" cy="9594671"/>
          </a:xfrm>
        </p:grpSpPr>
        <p:sp>
          <p:nvSpPr>
            <p:cNvPr name="Freeform 10" id="10"/>
            <p:cNvSpPr/>
            <p:nvPr/>
          </p:nvSpPr>
          <p:spPr>
            <a:xfrm flipH="false" flipV="false" rot="0">
              <a:off x="1562587" y="7018318"/>
              <a:ext cx="2576352" cy="2576352"/>
            </a:xfrm>
            <a:custGeom>
              <a:avLst/>
              <a:gdLst/>
              <a:ahLst/>
              <a:cxnLst/>
              <a:rect r="r" b="b" t="t" l="l"/>
              <a:pathLst>
                <a:path h="2576352" w="2576352">
                  <a:moveTo>
                    <a:pt x="0" y="0"/>
                  </a:moveTo>
                  <a:lnTo>
                    <a:pt x="2576352" y="0"/>
                  </a:lnTo>
                  <a:lnTo>
                    <a:pt x="2576352" y="2576353"/>
                  </a:lnTo>
                  <a:lnTo>
                    <a:pt x="0" y="257635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1" id="11"/>
            <p:cNvSpPr/>
            <p:nvPr/>
          </p:nvSpPr>
          <p:spPr>
            <a:xfrm flipH="false" flipV="true" rot="-5400000">
              <a:off x="1556129" y="5662055"/>
              <a:ext cx="1767419" cy="821850"/>
            </a:xfrm>
            <a:custGeom>
              <a:avLst/>
              <a:gdLst/>
              <a:ahLst/>
              <a:cxnLst/>
              <a:rect r="r" b="b" t="t" l="l"/>
              <a:pathLst>
                <a:path h="821850" w="1767419">
                  <a:moveTo>
                    <a:pt x="0" y="821850"/>
                  </a:moveTo>
                  <a:lnTo>
                    <a:pt x="1767418" y="821850"/>
                  </a:lnTo>
                  <a:lnTo>
                    <a:pt x="1767418" y="0"/>
                  </a:lnTo>
                  <a:lnTo>
                    <a:pt x="0" y="0"/>
                  </a:lnTo>
                  <a:lnTo>
                    <a:pt x="0" y="821850"/>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2" id="12"/>
            <p:cNvGrpSpPr/>
            <p:nvPr/>
          </p:nvGrpSpPr>
          <p:grpSpPr>
            <a:xfrm rot="0">
              <a:off x="550855" y="3397769"/>
              <a:ext cx="3935105" cy="1438397"/>
              <a:chOff x="0" y="0"/>
              <a:chExt cx="727253" cy="265832"/>
            </a:xfrm>
          </p:grpSpPr>
          <p:sp>
            <p:nvSpPr>
              <p:cNvPr name="Freeform 13" id="13"/>
              <p:cNvSpPr/>
              <p:nvPr/>
            </p:nvSpPr>
            <p:spPr>
              <a:xfrm flipH="false" flipV="false" rot="0">
                <a:off x="0" y="0"/>
                <a:ext cx="727253" cy="265832"/>
              </a:xfrm>
              <a:custGeom>
                <a:avLst/>
                <a:gdLst/>
                <a:ahLst/>
                <a:cxnLst/>
                <a:rect r="r" b="b" t="t" l="l"/>
                <a:pathLst>
                  <a:path h="265832" w="727253">
                    <a:moveTo>
                      <a:pt x="0" y="0"/>
                    </a:moveTo>
                    <a:lnTo>
                      <a:pt x="727253" y="0"/>
                    </a:lnTo>
                    <a:lnTo>
                      <a:pt x="727253" y="265832"/>
                    </a:lnTo>
                    <a:lnTo>
                      <a:pt x="0" y="265832"/>
                    </a:lnTo>
                    <a:close/>
                  </a:path>
                </a:pathLst>
              </a:custGeom>
              <a:gradFill rotWithShape="true">
                <a:gsLst>
                  <a:gs pos="0">
                    <a:srgbClr val="0CC0DF">
                      <a:alpha val="100000"/>
                    </a:srgbClr>
                  </a:gs>
                  <a:gs pos="100000">
                    <a:srgbClr val="FFDE59">
                      <a:alpha val="100000"/>
                    </a:srgbClr>
                  </a:gs>
                </a:gsLst>
                <a:lin ang="0"/>
              </a:gradFill>
            </p:spPr>
          </p:sp>
          <p:sp>
            <p:nvSpPr>
              <p:cNvPr name="TextBox 14" id="14"/>
              <p:cNvSpPr txBox="true"/>
              <p:nvPr/>
            </p:nvSpPr>
            <p:spPr>
              <a:xfrm>
                <a:off x="0" y="-38100"/>
                <a:ext cx="727253" cy="303932"/>
              </a:xfrm>
              <a:prstGeom prst="rect">
                <a:avLst/>
              </a:prstGeom>
            </p:spPr>
            <p:txBody>
              <a:bodyPr anchor="ctr" rtlCol="false" tIns="50800" lIns="50800" bIns="50800" rIns="50800"/>
              <a:lstStyle/>
              <a:p>
                <a:pPr algn="ctr">
                  <a:lnSpc>
                    <a:spcPts val="3499"/>
                  </a:lnSpc>
                </a:pPr>
                <a:r>
                  <a:rPr lang="en-US" b="true" sz="2499">
                    <a:solidFill>
                      <a:srgbClr val="000000"/>
                    </a:solidFill>
                    <a:latin typeface="Montserrat Bold"/>
                    <a:ea typeface="Montserrat Bold"/>
                    <a:cs typeface="Montserrat Bold"/>
                    <a:sym typeface="Montserrat Bold"/>
                  </a:rPr>
                  <a:t>Scam Score: 92%</a:t>
                </a:r>
              </a:p>
            </p:txBody>
          </p:sp>
        </p:grpSp>
        <p:sp>
          <p:nvSpPr>
            <p:cNvPr name="Freeform 15" id="15"/>
            <p:cNvSpPr/>
            <p:nvPr/>
          </p:nvSpPr>
          <p:spPr>
            <a:xfrm flipH="false" flipV="true" rot="-5400000">
              <a:off x="1556129" y="2006200"/>
              <a:ext cx="1767419" cy="821850"/>
            </a:xfrm>
            <a:custGeom>
              <a:avLst/>
              <a:gdLst/>
              <a:ahLst/>
              <a:cxnLst/>
              <a:rect r="r" b="b" t="t" l="l"/>
              <a:pathLst>
                <a:path h="821850" w="1767419">
                  <a:moveTo>
                    <a:pt x="0" y="821849"/>
                  </a:moveTo>
                  <a:lnTo>
                    <a:pt x="1767418" y="821849"/>
                  </a:lnTo>
                  <a:lnTo>
                    <a:pt x="1767418" y="0"/>
                  </a:lnTo>
                  <a:lnTo>
                    <a:pt x="0" y="0"/>
                  </a:lnTo>
                  <a:lnTo>
                    <a:pt x="0" y="821849"/>
                  </a:lnTo>
                  <a:close/>
                </a:path>
              </a:pathLst>
            </a:custGeom>
            <a:blipFill>
              <a:blip r:embed="rId6">
                <a:extLst>
                  <a:ext uri="{96DAC541-7B7A-43D3-8B79-37D633B846F1}">
                    <asvg:svgBlip xmlns:asvg="http://schemas.microsoft.com/office/drawing/2016/SVG/main" r:embed="rId7"/>
                  </a:ext>
                </a:extLst>
              </a:blip>
              <a:stretch>
                <a:fillRect l="0" t="0" r="0" b="0"/>
              </a:stretch>
            </a:blipFill>
          </p:spPr>
        </p:sp>
        <p:grpSp>
          <p:nvGrpSpPr>
            <p:cNvPr name="Group 16" id="16"/>
            <p:cNvGrpSpPr/>
            <p:nvPr/>
          </p:nvGrpSpPr>
          <p:grpSpPr>
            <a:xfrm rot="0">
              <a:off x="0" y="0"/>
              <a:ext cx="4926049" cy="1438397"/>
              <a:chOff x="0" y="0"/>
              <a:chExt cx="910391" cy="265832"/>
            </a:xfrm>
          </p:grpSpPr>
          <p:sp>
            <p:nvSpPr>
              <p:cNvPr name="Freeform 17" id="17"/>
              <p:cNvSpPr/>
              <p:nvPr/>
            </p:nvSpPr>
            <p:spPr>
              <a:xfrm flipH="false" flipV="false" rot="0">
                <a:off x="0" y="0"/>
                <a:ext cx="910391" cy="265832"/>
              </a:xfrm>
              <a:custGeom>
                <a:avLst/>
                <a:gdLst/>
                <a:ahLst/>
                <a:cxnLst/>
                <a:rect r="r" b="b" t="t" l="l"/>
                <a:pathLst>
                  <a:path h="265832" w="910391">
                    <a:moveTo>
                      <a:pt x="0" y="0"/>
                    </a:moveTo>
                    <a:lnTo>
                      <a:pt x="910391" y="0"/>
                    </a:lnTo>
                    <a:lnTo>
                      <a:pt x="910391" y="265832"/>
                    </a:lnTo>
                    <a:lnTo>
                      <a:pt x="0" y="265832"/>
                    </a:lnTo>
                    <a:close/>
                  </a:path>
                </a:pathLst>
              </a:custGeom>
              <a:gradFill rotWithShape="true">
                <a:gsLst>
                  <a:gs pos="0">
                    <a:srgbClr val="0CC0DF">
                      <a:alpha val="100000"/>
                    </a:srgbClr>
                  </a:gs>
                  <a:gs pos="100000">
                    <a:srgbClr val="FFDE59">
                      <a:alpha val="100000"/>
                    </a:srgbClr>
                  </a:gs>
                </a:gsLst>
                <a:lin ang="0"/>
              </a:gradFill>
            </p:spPr>
          </p:sp>
          <p:sp>
            <p:nvSpPr>
              <p:cNvPr name="TextBox 18" id="18"/>
              <p:cNvSpPr txBox="true"/>
              <p:nvPr/>
            </p:nvSpPr>
            <p:spPr>
              <a:xfrm>
                <a:off x="0" y="-38100"/>
                <a:ext cx="910391" cy="303932"/>
              </a:xfrm>
              <a:prstGeom prst="rect">
                <a:avLst/>
              </a:prstGeom>
            </p:spPr>
            <p:txBody>
              <a:bodyPr anchor="ctr" rtlCol="false" tIns="50800" lIns="50800" bIns="50800" rIns="50800"/>
              <a:lstStyle/>
              <a:p>
                <a:pPr algn="ctr">
                  <a:lnSpc>
                    <a:spcPts val="3499"/>
                  </a:lnSpc>
                </a:pPr>
                <a:r>
                  <a:rPr lang="en-US" b="true" sz="2499">
                    <a:solidFill>
                      <a:srgbClr val="000000"/>
                    </a:solidFill>
                    <a:latin typeface="Montserrat Bold"/>
                    <a:ea typeface="Montserrat Bold"/>
                    <a:cs typeface="Montserrat Bold"/>
                    <a:sym typeface="Montserrat Bold"/>
                  </a:rPr>
                  <a:t>❗'No experience needed'</a:t>
                </a:r>
              </a:p>
            </p:txBody>
          </p:sp>
        </p:grpSp>
      </p:gr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1187387"/>
            <a:ext cx="18288000" cy="18288000"/>
          </a:xfrm>
          <a:custGeom>
            <a:avLst/>
            <a:gdLst/>
            <a:ahLst/>
            <a:cxnLst/>
            <a:rect r="r" b="b" t="t" l="l"/>
            <a:pathLst>
              <a:path h="18288000" w="18288000">
                <a:moveTo>
                  <a:pt x="0" y="0"/>
                </a:moveTo>
                <a:lnTo>
                  <a:pt x="18288000" y="0"/>
                </a:lnTo>
                <a:lnTo>
                  <a:pt x="18288000" y="18288000"/>
                </a:lnTo>
                <a:lnTo>
                  <a:pt x="0" y="18288000"/>
                </a:lnTo>
                <a:lnTo>
                  <a:pt x="0" y="0"/>
                </a:lnTo>
                <a:close/>
              </a:path>
            </a:pathLst>
          </a:custGeom>
          <a:blipFill>
            <a:blip r:embed="rId2">
              <a:alphaModFix amt="16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0">
            <a:off x="1240790" y="0"/>
            <a:ext cx="212090" cy="5143500"/>
            <a:chOff x="0" y="0"/>
            <a:chExt cx="55859" cy="1354667"/>
          </a:xfrm>
        </p:grpSpPr>
        <p:sp>
          <p:nvSpPr>
            <p:cNvPr name="Freeform 4" id="4"/>
            <p:cNvSpPr/>
            <p:nvPr/>
          </p:nvSpPr>
          <p:spPr>
            <a:xfrm flipH="false" flipV="false" rot="0">
              <a:off x="0" y="0"/>
              <a:ext cx="55859" cy="1354667"/>
            </a:xfrm>
            <a:custGeom>
              <a:avLst/>
              <a:gdLst/>
              <a:ahLst/>
              <a:cxnLst/>
              <a:rect r="r" b="b" t="t" l="l"/>
              <a:pathLst>
                <a:path h="1354667" w="55859">
                  <a:moveTo>
                    <a:pt x="0" y="0"/>
                  </a:moveTo>
                  <a:lnTo>
                    <a:pt x="55859" y="0"/>
                  </a:lnTo>
                  <a:lnTo>
                    <a:pt x="55859" y="1354667"/>
                  </a:lnTo>
                  <a:lnTo>
                    <a:pt x="0" y="1354667"/>
                  </a:lnTo>
                  <a:close/>
                </a:path>
              </a:pathLst>
            </a:custGeom>
            <a:solidFill>
              <a:srgbClr val="F9B314"/>
            </a:solidFill>
          </p:spPr>
        </p:sp>
        <p:sp>
          <p:nvSpPr>
            <p:cNvPr name="TextBox 5" id="5"/>
            <p:cNvSpPr txBox="true"/>
            <p:nvPr/>
          </p:nvSpPr>
          <p:spPr>
            <a:xfrm>
              <a:off x="0" y="-38100"/>
              <a:ext cx="55859" cy="1392767"/>
            </a:xfrm>
            <a:prstGeom prst="rect">
              <a:avLst/>
            </a:prstGeom>
          </p:spPr>
          <p:txBody>
            <a:bodyPr anchor="ctr" rtlCol="false" tIns="50800" lIns="50800" bIns="50800" rIns="50800"/>
            <a:lstStyle/>
            <a:p>
              <a:pPr algn="ctr">
                <a:lnSpc>
                  <a:spcPts val="2659"/>
                </a:lnSpc>
                <a:spcBef>
                  <a:spcPct val="0"/>
                </a:spcBef>
              </a:pPr>
            </a:p>
          </p:txBody>
        </p:sp>
      </p:grpSp>
      <p:grpSp>
        <p:nvGrpSpPr>
          <p:cNvPr name="Group 6" id="6"/>
          <p:cNvGrpSpPr/>
          <p:nvPr/>
        </p:nvGrpSpPr>
        <p:grpSpPr>
          <a:xfrm rot="0">
            <a:off x="14500955" y="1866623"/>
            <a:ext cx="2758345" cy="245871"/>
            <a:chOff x="0" y="0"/>
            <a:chExt cx="726478" cy="64756"/>
          </a:xfrm>
        </p:grpSpPr>
        <p:sp>
          <p:nvSpPr>
            <p:cNvPr name="Freeform 7" id="7"/>
            <p:cNvSpPr/>
            <p:nvPr/>
          </p:nvSpPr>
          <p:spPr>
            <a:xfrm flipH="false" flipV="false" rot="0">
              <a:off x="0" y="0"/>
              <a:ext cx="726478" cy="64756"/>
            </a:xfrm>
            <a:custGeom>
              <a:avLst/>
              <a:gdLst/>
              <a:ahLst/>
              <a:cxnLst/>
              <a:rect r="r" b="b" t="t" l="l"/>
              <a:pathLst>
                <a:path h="64756" w="726478">
                  <a:moveTo>
                    <a:pt x="0" y="0"/>
                  </a:moveTo>
                  <a:lnTo>
                    <a:pt x="726478" y="0"/>
                  </a:lnTo>
                  <a:lnTo>
                    <a:pt x="726478" y="64756"/>
                  </a:lnTo>
                  <a:lnTo>
                    <a:pt x="0" y="64756"/>
                  </a:lnTo>
                  <a:close/>
                </a:path>
              </a:pathLst>
            </a:custGeom>
            <a:solidFill>
              <a:srgbClr val="F9B314"/>
            </a:solidFill>
          </p:spPr>
        </p:sp>
        <p:sp>
          <p:nvSpPr>
            <p:cNvPr name="TextBox 8" id="8"/>
            <p:cNvSpPr txBox="true"/>
            <p:nvPr/>
          </p:nvSpPr>
          <p:spPr>
            <a:xfrm>
              <a:off x="0" y="-38100"/>
              <a:ext cx="726478" cy="102856"/>
            </a:xfrm>
            <a:prstGeom prst="rect">
              <a:avLst/>
            </a:prstGeom>
          </p:spPr>
          <p:txBody>
            <a:bodyPr anchor="ctr" rtlCol="false" tIns="50800" lIns="50800" bIns="50800" rIns="50800"/>
            <a:lstStyle/>
            <a:p>
              <a:pPr algn="ctr">
                <a:lnSpc>
                  <a:spcPts val="2659"/>
                </a:lnSpc>
                <a:spcBef>
                  <a:spcPct val="0"/>
                </a:spcBef>
              </a:pPr>
            </a:p>
          </p:txBody>
        </p:sp>
      </p:grpSp>
      <p:sp>
        <p:nvSpPr>
          <p:cNvPr name="TextBox 9" id="9"/>
          <p:cNvSpPr txBox="true"/>
          <p:nvPr/>
        </p:nvSpPr>
        <p:spPr>
          <a:xfrm rot="0">
            <a:off x="2424450" y="1677462"/>
            <a:ext cx="9288593" cy="1360170"/>
          </a:xfrm>
          <a:prstGeom prst="rect">
            <a:avLst/>
          </a:prstGeom>
        </p:spPr>
        <p:txBody>
          <a:bodyPr anchor="t" rtlCol="false" tIns="0" lIns="0" bIns="0" rIns="0">
            <a:spAutoFit/>
          </a:bodyPr>
          <a:lstStyle/>
          <a:p>
            <a:pPr algn="l">
              <a:lnSpc>
                <a:spcPts val="10560"/>
              </a:lnSpc>
            </a:pPr>
            <a:r>
              <a:rPr lang="en-US" b="true" sz="9600">
                <a:solidFill>
                  <a:srgbClr val="1211CA"/>
                </a:solidFill>
                <a:latin typeface="Montserrat Ultra-Bold"/>
                <a:ea typeface="Montserrat Ultra-Bold"/>
                <a:cs typeface="Montserrat Ultra-Bold"/>
                <a:sym typeface="Montserrat Ultra-Bold"/>
              </a:rPr>
              <a:t>THANK YOU</a:t>
            </a:r>
          </a:p>
        </p:txBody>
      </p:sp>
      <p:sp>
        <p:nvSpPr>
          <p:cNvPr name="TextBox 10" id="10"/>
          <p:cNvSpPr txBox="true"/>
          <p:nvPr/>
        </p:nvSpPr>
        <p:spPr>
          <a:xfrm rot="0">
            <a:off x="2424450" y="3748830"/>
            <a:ext cx="11295522" cy="1009652"/>
          </a:xfrm>
          <a:prstGeom prst="rect">
            <a:avLst/>
          </a:prstGeom>
        </p:spPr>
        <p:txBody>
          <a:bodyPr anchor="t" rtlCol="false" tIns="0" lIns="0" bIns="0" rIns="0">
            <a:spAutoFit/>
          </a:bodyPr>
          <a:lstStyle/>
          <a:p>
            <a:pPr algn="l">
              <a:lnSpc>
                <a:spcPts val="8399"/>
              </a:lnSpc>
            </a:pPr>
            <a:r>
              <a:rPr lang="en-US" b="true" sz="5999" spc="2063">
                <a:solidFill>
                  <a:srgbClr val="154533"/>
                </a:solidFill>
                <a:latin typeface="Montserrat Bold"/>
                <a:ea typeface="Montserrat Bold"/>
                <a:cs typeface="Montserrat Bold"/>
                <a:sym typeface="Montserrat Bold"/>
              </a:rPr>
              <a:t>ANY QUESTIONS ?</a:t>
            </a:r>
          </a:p>
        </p:txBody>
      </p:sp>
      <p:sp>
        <p:nvSpPr>
          <p:cNvPr name="TextBox 11" id="11"/>
          <p:cNvSpPr txBox="true"/>
          <p:nvPr/>
        </p:nvSpPr>
        <p:spPr>
          <a:xfrm rot="0">
            <a:off x="17259300" y="9210675"/>
            <a:ext cx="152400" cy="200025"/>
          </a:xfrm>
          <a:prstGeom prst="rect">
            <a:avLst/>
          </a:prstGeom>
        </p:spPr>
        <p:txBody>
          <a:bodyPr anchor="t" rtlCol="false" tIns="0" lIns="0" bIns="0" rIns="0" wrap="none">
            <a:spAutoFit/>
          </a:bodyPr>
          <a:lstStyle/>
          <a:p>
            <a:pPr algn="ctr">
              <a:lnSpc>
                <a:spcPts val="2800"/>
              </a:lnSpc>
              <a:spcBef>
                <a:spcPct val="0"/>
              </a:spcBef>
            </a:pPr>
            <a:r>
              <a:rPr lang="en-US" sz="2000">
                <a:solidFill>
                  <a:srgbClr val="000000"/>
                </a:solidFill>
                <a:latin typeface="Canva Sans"/>
                <a:ea typeface="Canva Sans"/>
                <a:cs typeface="Canva Sans"/>
                <a:sym typeface="Canva San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DAGjzb141LU</dc:identifier>
  <dcterms:modified xsi:type="dcterms:W3CDTF">2011-08-01T06:04:30Z</dcterms:modified>
  <cp:revision>1</cp:revision>
  <dc:title>Team Delta</dc:title>
</cp:coreProperties>
</file>